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C8C8C"/>
            </a:solidFill>
          </c:spPr>
          <c:dPt>
            <c:idx val="1"/>
            <c:spPr>
              <a:solidFill>
                <a:srgbClr val="F26B1D"/>
              </a:solidFill>
            </c:spPr>
          </c:dPt>
          <c:cat>
            <c:strRef>
              <c:f>Sheet1!$A$2:$A$5</c:f>
              <c:strCache>
                <c:ptCount val="4"/>
                <c:pt idx="0">
                  <c:v>Severity 1</c:v>
                </c:pt>
                <c:pt idx="1">
                  <c:v>Severity 2</c:v>
                </c:pt>
                <c:pt idx="2">
                  <c:v>Severity 3</c:v>
                </c:pt>
                <c:pt idx="3">
                  <c:v>Severity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73.1</c:v>
                </c:pt>
                <c:pt idx="2">
                  <c:v>21.8</c:v>
                </c:pt>
                <c:pt idx="3">
                  <c:v>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DBDBD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 val="0"/>
        <c:axPos val="l"/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C8C8C"/>
            </a:solidFill>
          </c:spPr>
          <c:dPt>
            <c:idx val="0"/>
            <c:spPr>
              <a:solidFill>
                <a:srgbClr val="F26B1D"/>
              </a:solidFill>
            </c:spPr>
          </c:dPt>
          <c:cat>
            <c:strRef>
              <c:f>Sheet1!$A$2:$A$11</c:f>
              <c:strCache>
                <c:ptCount val="10"/>
                <c:pt idx="0">
                  <c:v>Random Forest</c:v>
                </c:pt>
                <c:pt idx="1">
                  <c:v>Gradient Boosting</c:v>
                </c:pt>
                <c:pt idx="2">
                  <c:v>MLP (neural net)</c:v>
                </c:pt>
                <c:pt idx="3">
                  <c:v>Decision Tree</c:v>
                </c:pt>
                <c:pt idx="4">
                  <c:v>KNN</c:v>
                </c:pt>
                <c:pt idx="5">
                  <c:v>Bagging</c:v>
                </c:pt>
                <c:pt idx="6">
                  <c:v>Logistic Regression</c:v>
                </c:pt>
                <c:pt idx="7">
                  <c:v>AdaBoost</c:v>
                </c:pt>
                <c:pt idx="8">
                  <c:v>SVC</c:v>
                </c:pt>
                <c:pt idx="9">
                  <c:v>Gaussian Naive Bayes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0.6953</c:v>
                </c:pt>
                <c:pt idx="1">
                  <c:v>0.6807</c:v>
                </c:pt>
                <c:pt idx="2">
                  <c:v>0.679</c:v>
                </c:pt>
                <c:pt idx="3">
                  <c:v>0.6747</c:v>
                </c:pt>
                <c:pt idx="4">
                  <c:v>0.6725</c:v>
                </c:pt>
                <c:pt idx="5">
                  <c:v>0.6707</c:v>
                </c:pt>
                <c:pt idx="6">
                  <c:v>0.6597</c:v>
                </c:pt>
                <c:pt idx="7">
                  <c:v>0.6252</c:v>
                </c:pt>
                <c:pt idx="8">
                  <c:v>0.6171</c:v>
                </c:pt>
                <c:pt idx="9">
                  <c:v>0.1608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DBDB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0"/>
        </c:scaling>
        <c:delete/>
        <c:axPos val="b"/>
        <c:numFmt formatCode="0.00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C8C8C"/>
            </a:solidFill>
          </c:spPr>
          <c:dPt>
            <c:idx val="0"/>
            <c:spPr>
              <a:solidFill>
                <a:srgbClr val="F26B1D"/>
              </a:solidFill>
            </c:spPr>
          </c:dPt>
          <c:cat>
            <c:strRef>
              <c:f>Sheet1!$A$2:$A$11</c:f>
              <c:strCache>
                <c:ptCount val="10"/>
                <c:pt idx="0">
                  <c:v>Gradient Boosting</c:v>
                </c:pt>
                <c:pt idx="1">
                  <c:v>Random Forest</c:v>
                </c:pt>
                <c:pt idx="2">
                  <c:v>MLP (neural net)</c:v>
                </c:pt>
                <c:pt idx="3">
                  <c:v>Bagging</c:v>
                </c:pt>
                <c:pt idx="4">
                  <c:v>Logistic Regression</c:v>
                </c:pt>
                <c:pt idx="5">
                  <c:v>Decision Tree</c:v>
                </c:pt>
                <c:pt idx="6">
                  <c:v>AdaBoost</c:v>
                </c:pt>
                <c:pt idx="7">
                  <c:v>KNN</c:v>
                </c:pt>
                <c:pt idx="8">
                  <c:v>SVC</c:v>
                </c:pt>
                <c:pt idx="9">
                  <c:v>Gaussian Naive Bayes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0.8181</c:v>
                </c:pt>
                <c:pt idx="1">
                  <c:v>0.817</c:v>
                </c:pt>
                <c:pt idx="2">
                  <c:v>0.7997</c:v>
                </c:pt>
                <c:pt idx="3">
                  <c:v>0.7848</c:v>
                </c:pt>
                <c:pt idx="4">
                  <c:v>0.7745</c:v>
                </c:pt>
                <c:pt idx="5">
                  <c:v>0.7154</c:v>
                </c:pt>
                <c:pt idx="6">
                  <c:v>0.6981</c:v>
                </c:pt>
                <c:pt idx="7">
                  <c:v>0.6889</c:v>
                </c:pt>
                <c:pt idx="8">
                  <c:v>0.6856</c:v>
                </c:pt>
                <c:pt idx="9">
                  <c:v>0.6667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DBDB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5"/>
          <c:min val="0.0"/>
        </c:scaling>
        <c:delete/>
        <c:axPos val="b"/>
        <c:numFmt formatCode="0.00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C8C8C"/>
            </a:solidFill>
          </c:spPr>
          <c:dPt>
            <c:idx val="0"/>
            <c:spPr>
              <a:solidFill>
                <a:srgbClr val="F26B1D"/>
              </a:solidFill>
            </c:spPr>
          </c:dPt>
          <c:cat>
            <c:strRef>
              <c:f>Sheet1!$A$2:$A$11</c:f>
              <c:strCache>
                <c:ptCount val="10"/>
                <c:pt idx="0">
                  <c:v>Random Forest</c:v>
                </c:pt>
                <c:pt idx="1">
                  <c:v>MLP (neural net)</c:v>
                </c:pt>
                <c:pt idx="2">
                  <c:v>Gradient Boosting</c:v>
                </c:pt>
                <c:pt idx="3">
                  <c:v>KNN</c:v>
                </c:pt>
                <c:pt idx="4">
                  <c:v>Decision Tree</c:v>
                </c:pt>
                <c:pt idx="5">
                  <c:v>Bagging</c:v>
                </c:pt>
                <c:pt idx="6">
                  <c:v>Logistic Regression</c:v>
                </c:pt>
                <c:pt idx="7">
                  <c:v>AdaBoost</c:v>
                </c:pt>
                <c:pt idx="8">
                  <c:v>SVC</c:v>
                </c:pt>
                <c:pt idx="9">
                  <c:v>Gaussian Naive Bayes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0.6938</c:v>
                </c:pt>
                <c:pt idx="1">
                  <c:v>0.6825</c:v>
                </c:pt>
                <c:pt idx="2">
                  <c:v>0.6766</c:v>
                </c:pt>
                <c:pt idx="3">
                  <c:v>0.6747</c:v>
                </c:pt>
                <c:pt idx="4">
                  <c:v>0.6724</c:v>
                </c:pt>
                <c:pt idx="5">
                  <c:v>0.6693</c:v>
                </c:pt>
                <c:pt idx="6">
                  <c:v>0.6587</c:v>
                </c:pt>
                <c:pt idx="7">
                  <c:v>0.6312</c:v>
                </c:pt>
                <c:pt idx="8">
                  <c:v>0.5799</c:v>
                </c:pt>
                <c:pt idx="9">
                  <c:v>0.1418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DBDBD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0"/>
        </c:scaling>
        <c:delete/>
        <c:axPos val="b"/>
        <c:numFmt formatCode="0.00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C8C8C"/>
            </a:solidFill>
          </c:spPr>
          <c:dPt>
            <c:idx val="1"/>
            <c:spPr>
              <a:solidFill>
                <a:srgbClr val="F26B1D"/>
              </a:solidFill>
            </c:spPr>
          </c:dPt>
          <c:cat>
            <c:strRef>
              <c:f>Sheet1!$A$2:$A$5</c:f>
              <c:strCache>
                <c:ptCount val="4"/>
                <c:pt idx="0">
                  <c:v>Severity 1</c:v>
                </c:pt>
                <c:pt idx="1">
                  <c:v>Severity 2</c:v>
                </c:pt>
                <c:pt idx="2">
                  <c:v>Severity 3</c:v>
                </c:pt>
                <c:pt idx="3">
                  <c:v>Severity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0.105</c:v>
                </c:pt>
                <c:pt idx="1">
                  <c:v>0.952</c:v>
                </c:pt>
                <c:pt idx="2">
                  <c:v>0.256</c:v>
                </c:pt>
                <c:pt idx="3">
                  <c:v>0.04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DBDBD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l"/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ln w="31750">
              <a:solidFill>
                <a:srgbClr val="2B2B2B"/>
              </a:solidFill>
            </a:ln>
          </c:spPr>
          <c:marker>
            <c:symbol val="circle"/>
            <c:size val="8"/>
            <c:spPr>
              <a:solidFill>
                <a:srgbClr val="2B2B2B"/>
              </a:solidFill>
            </c:spPr>
          </c:marker>
          <c:dPt>
            <c:idx val="4"/>
            <c:marker>
              <c:symbol val="circle"/>
              <c:size val="15"/>
              <c:spPr>
                <a:solidFill>
                  <a:srgbClr val="F26B1D"/>
                </a:solidFill>
                <a:ln>
                  <a:solidFill>
                    <a:srgbClr val="F26B1D"/>
                  </a:solidFill>
                </a:ln>
              </c:spPr>
            </c:marke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1600" b="1">
                        <a:solidFill>
                          <a:srgbClr val="F26B1D"/>
                        </a:solidFill>
                        <a:latin typeface="Arial"/>
                      </a:rPr>
                      <a:t>k = 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391097</c:v>
                </c:pt>
                <c:pt idx="1">
                  <c:v>362609</c:v>
                </c:pt>
                <c:pt idx="2">
                  <c:v>335321</c:v>
                </c:pt>
                <c:pt idx="3">
                  <c:v>314271</c:v>
                </c:pt>
                <c:pt idx="4">
                  <c:v>295738</c:v>
                </c:pt>
                <c:pt idx="5">
                  <c:v>282742</c:v>
                </c:pt>
                <c:pt idx="6">
                  <c:v>273512</c:v>
                </c:pt>
                <c:pt idx="7">
                  <c:v>262685</c:v>
                </c:pt>
                <c:pt idx="8">
                  <c:v>256326</c:v>
                </c:pt>
                <c:pt idx="9">
                  <c:v>250549</c:v>
                </c:pt>
                <c:pt idx="10">
                  <c:v>245840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300" b="0">
                    <a:latin typeface="Arial"/>
                  </a:rPr>
                  <a:t>Number of clusters (k)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DBDBD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20000.0"/>
          <c:min val="220000.0"/>
        </c:scaling>
        <c:delete val="0"/>
        <c:axPos val="l"/>
        <c:majorGridlines>
          <c:spPr>
            <a:ln>
              <a:solidFill>
                <a:srgbClr val="EDEB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latin typeface="Arial"/>
                  </a:rPr>
                  <a:t>Inertia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2118791784"/>
        <c:crosses val="autoZero"/>
        <c:majorUnit val="40000.0"/>
      </c:valAx>
    </c:plotArea>
    <c:plotVisOnly val="1"/>
    <c:dispBlanksAs val="gap"/>
    <c:showDLblsOverMax val="0"/>
  </c:chart>
  <c:txPr>
    <a:bodyPr/>
    <a:lstStyle/>
    <a:p>
      <a:pPr>
        <a:defRPr sz="13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and the team. Review 1 covered regression and five classifiers. Today: the other five classifiers, a single comparison of all ten, tuning of the final model, and the clustering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1 results are unchanged. The Part A numbers here match the Review 1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Counts: severity 1 = 433, severity 2 = 31,273, severity 3 = 9,304, severity 4 = 1,758. The last record of the supplied file is cut off, which we mention in the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notebook we check with an assertion that the scaler saw exactly 34,214 rows. Cross-validation uses pipelines, so preprocessing is re-fitted inside every 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B settings are sensible starting values. Tuning is applied only to the model we select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One-vs-Rest helper was checked against scikit-learn roc_auc_score for the nine models that give probabilities, and the values were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Forest is first on weighted F1 (0.6953). Gradient Boosting has the highest ROC-AUC (0.8181). The gaps between the top models are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Gradient Boosting is first on AUC; Random Forest is second by 0.001. F1 and AUC do not always rank the models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Gaussian Naive Bayes is the exception: it predicts Severity 1 for 3,397 of the 6,255 Severity 2 test records. Gradient Boosting and the Decision Tree find the most Severity 4 accidents (16 and 17 of 352).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SVC has a large spread between folds (0.048), which fits with the fact that it stops at 3,000 iterations and does not fully converge.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bootstrap interval only reflects noise from the test sample, because the model is fixed. The gain is about one point of F1, so we describe it as modest.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is the share of real accidents of a class that the model finds. The support in the test set is 86, 6,255, 1,861 and 352 records for severity 1 to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clustering track. Severity and Distance are never given to the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Agglomerative clustering needs all pairwise distances, about 7 GB for 42,767 records, so it runs on a fixed random sample of 8,000. K-Means runs on all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Silhouette values stay between 0.106 and 0.121 for every k from 2 to 12, so no k separates the data strongly. Single-start K-Means runs agree with the final model only moderately (ARI 0.50 to 0.99), which is why the final fit uses 20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before the 4-cluster cut (18.9) is almost as large as the gap before the 2-cluster cut (19.0), so the choice of 4 is not clear-cut.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Ward minimizes within-cluster variance, the same goal as K-Means. The scikit-learn labels are identical to the SciPy cut (ARI 1.0).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is fitted on all records. The 8,000-record sample is plotted because the Agglomerative model exists only for those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t-SNE embedding is colored twice, once by K-Means and once by Agglomerative.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shaded rows are the two required results: K-Means on all records and Agglomerative on the sample. The other rows are controls that use the same sample or the same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Pressure is in inches of mercury. Cluster 0 has an average pressure of about 25.6, which points to high altitude. Severity was used only after fitting, never to build the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ready to say these limitations before they are asked. Next steps: class weights or thresholds for rare severities, an SVC run with more iterations, and a map check of the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D2: the repository history must be created by the team in its own GitHub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i="0" b="1">
                <a:solidFill>
                  <a:srgbClr val="F26B1D"/>
                </a:solidFill>
                <a:latin typeface="Arial"/>
              </a:rPr>
              <a:t>23CSE301 MACHINE LEARNING CAPSTONE  |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600" i="0" b="1">
                <a:solidFill>
                  <a:srgbClr val="F26B1D"/>
                </a:solidFill>
                <a:latin typeface="Arial"/>
              </a:rPr>
              <a:t>US Accidents:</a:t>
            </a:r>
          </a:p>
          <a:p>
            <a:pPr algn="l"/>
            <a:r>
              <a:rPr sz="4600" i="0" b="1">
                <a:solidFill>
                  <a:srgbClr val="FFFFFF"/>
                </a:solidFill>
                <a:latin typeface="Arial"/>
              </a:rPr>
              <a:t>Accident Distance Regression</a:t>
            </a:r>
          </a:p>
          <a:p>
            <a:pPr algn="l"/>
            <a:r>
              <a:rPr sz="4600" i="0" b="1">
                <a:solidFill>
                  <a:srgbClr val="FFFFFF"/>
                </a:solidFill>
                <a:latin typeface="Arial"/>
              </a:rPr>
              <a:t>and Severity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i="0" b="0">
                <a:solidFill>
                  <a:srgbClr val="D9D9D9"/>
                </a:solidFill>
                <a:latin typeface="Arial"/>
              </a:rPr>
              <a:t>Ten classifiers compared, the best one tuned, and accident clusters found without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983480"/>
            <a:ext cx="10332720" cy="2743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FFFFFF"/>
                </a:solidFill>
                <a:latin typeface="Arial"/>
              </a:rPr>
              <a:t>Vibin Ragav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0" b="0">
                <a:solidFill>
                  <a:srgbClr val="BDBDBD"/>
                </a:solidFill>
                <a:latin typeface="Arial"/>
              </a:rPr>
              <a:t>CB.SC.U4CSE24556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16636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FFFFFF"/>
                </a:solidFill>
                <a:latin typeface="Arial"/>
              </a:rPr>
              <a:t>Shre Raam P 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5321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0" b="0">
                <a:solidFill>
                  <a:srgbClr val="BDBDBD"/>
                </a:solidFill>
                <a:latin typeface="Arial"/>
              </a:rPr>
              <a:t>CB.SC.U4CSE24548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516636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FFFFFF"/>
                </a:solidFill>
                <a:latin typeface="Arial"/>
              </a:rPr>
              <a:t>Nitin Pranav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5321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0" b="0">
                <a:solidFill>
                  <a:srgbClr val="BDBDBD"/>
                </a:solidFill>
                <a:latin typeface="Arial"/>
              </a:rPr>
              <a:t>CB.SC.U4CSE24539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807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0" b="0">
                <a:solidFill>
                  <a:srgbClr val="F26B1D"/>
                </a:solidFill>
                <a:latin typeface="Arial"/>
              </a:rPr>
              <a:t>Amrita Vishwa Vidyapeetham, Coimbatore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Where we are: Review 1 and Review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303520" cy="5029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FFFFFF"/>
                </a:solidFill>
                <a:latin typeface="Arial"/>
              </a:rPr>
              <a:t>Review 1 (done)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30352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Data audit, EDA and cleaning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Regression: 10 models, tuning and cross-validation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Classification Part A: Logistic Regression, KNN, Naive Bayes, Decision Tree, SVC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Best Part A model: Decision Tree (accuracy 73.71%, weighted F1 0.6747)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508760"/>
            <a:ext cx="5303520" cy="50292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937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FFFFFF"/>
                </a:solidFill>
                <a:latin typeface="Arial"/>
              </a:rPr>
              <a:t>Review 2 (this talk)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530352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Classification Part B: Random Forest, AdaBoost, Gradient Boosting, Bagging, MLP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One table that compares all 10 classifiers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Choose the final model and tune it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Clustering: K-Means and Agglomerative, with elbow curve, dendrogram, PCA and t-SNE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i="1" b="0">
                <a:solidFill>
                  <a:srgbClr val="6B6B6B"/>
                </a:solidFill>
                <a:latin typeface="Arial"/>
              </a:rPr>
              <a:t>Same dataset, same targets and the same 80/20 split as Review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48640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1">
                <a:solidFill>
                  <a:srgbClr val="2B2B2B"/>
                </a:solidFill>
                <a:latin typeface="Arial"/>
              </a:rPr>
              <a:t>42,768</a:t>
            </a:r>
            <a:r>
              <a:rPr sz="1800" i="0" b="0">
                <a:solidFill>
                  <a:srgbClr val="2B2B2B"/>
                </a:solidFill>
                <a:latin typeface="Arial"/>
              </a:rPr>
              <a:t> accident records, </a:t>
            </a:r>
            <a:r>
              <a:rPr sz="1800" i="0" b="1">
                <a:solidFill>
                  <a:srgbClr val="2B2B2B"/>
                </a:solidFill>
                <a:latin typeface="Arial"/>
              </a:rPr>
              <a:t>47</a:t>
            </a:r>
            <a:r>
              <a:rPr sz="1800" i="0" b="0">
                <a:solidFill>
                  <a:srgbClr val="2B2B2B"/>
                </a:solidFill>
                <a:latin typeface="Arial"/>
              </a:rPr>
              <a:t> columns, 49 US states, February 2016 to December 2020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Inputs: time, location, weather and road features near the accident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1">
                <a:solidFill>
                  <a:srgbClr val="2B2B2B"/>
                </a:solidFill>
                <a:latin typeface="Arial"/>
              </a:rPr>
              <a:t>Regression target:</a:t>
            </a:r>
            <a:r>
              <a:rPr sz="1800" i="0" b="0">
                <a:solidFill>
                  <a:srgbClr val="2B2B2B"/>
                </a:solidFill>
                <a:latin typeface="Arial"/>
              </a:rPr>
              <a:t> Distance(mi), the road length affected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1">
                <a:solidFill>
                  <a:srgbClr val="2B2B2B"/>
                </a:solidFill>
                <a:latin typeface="Arial"/>
              </a:rPr>
              <a:t>Classification target:</a:t>
            </a:r>
            <a:r>
              <a:rPr sz="1800" i="0" b="0">
                <a:solidFill>
                  <a:srgbClr val="2B2B2B"/>
                </a:solidFill>
                <a:latin typeface="Arial"/>
              </a:rPr>
              <a:t> Severity, classes 1 to 4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Clustering uses no target at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i="0" b="1">
                <a:solidFill>
                  <a:srgbClr val="2B2B2B"/>
                </a:solidFill>
                <a:latin typeface="Arial"/>
              </a:rPr>
              <a:t>Share of accidents by severity (%)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92240" y="1783080"/>
          <a:ext cx="52120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0" y="5029200"/>
            <a:ext cx="5029200" cy="1097280"/>
          </a:xfrm>
          <a:prstGeom prst="rect">
            <a:avLst/>
          </a:prstGeom>
          <a:solidFill>
            <a:srgbClr val="F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5074920"/>
            <a:ext cx="475488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i="0" b="0">
                <a:solidFill>
                  <a:srgbClr val="111111"/>
                </a:solidFill>
                <a:latin typeface="Arial"/>
              </a:rPr>
              <a:t>Always guessing "Severity 2" is right </a:t>
            </a:r>
            <a:r>
              <a:rPr sz="1500" i="0" b="1">
                <a:solidFill>
                  <a:srgbClr val="111111"/>
                </a:solidFill>
                <a:latin typeface="Arial"/>
              </a:rPr>
              <a:t>73.1%</a:t>
            </a:r>
            <a:r>
              <a:rPr sz="1500" i="0" b="0">
                <a:solidFill>
                  <a:srgbClr val="111111"/>
                </a:solidFill>
                <a:latin typeface="Arial"/>
              </a:rPr>
              <a:t> of the time, so accuracy alone can mislead. We also use weighted F1 and confusion matrices.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Preparing the data without leaking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3474720" cy="2103120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3474720" cy="73152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600" i="0" b="1">
                <a:solidFill>
                  <a:srgbClr val="F26B1D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111111"/>
                </a:solidFill>
                <a:latin typeface="Arial"/>
              </a:rPr>
              <a:t>Split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i="0" b="0">
                <a:solidFill>
                  <a:srgbClr val="2B2B2B"/>
                </a:solidFill>
                <a:latin typeface="Arial"/>
              </a:rPr>
              <a:t>80% train (34,214 rows) and 20% test (8,554 rows). Stratified, random_state = 42.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3474720" cy="2103120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3474720" cy="73152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45920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600" i="0" b="1">
                <a:solidFill>
                  <a:srgbClr val="F26B1D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173736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111111"/>
                </a:solidFill>
                <a:latin typeface="Arial"/>
              </a:rPr>
              <a:t>Fit on train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3172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i="0" b="0">
                <a:solidFill>
                  <a:srgbClr val="2B2B2B"/>
                </a:solidFill>
                <a:latin typeface="Arial"/>
              </a:rPr>
              <a:t>Imputer, scaler and one-hot encoder learn their values from the training rows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508760"/>
            <a:ext cx="3474720" cy="2103120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508760"/>
            <a:ext cx="3474720" cy="73152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1645920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600" i="0" b="1">
                <a:solidFill>
                  <a:srgbClr val="F26B1D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37360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111111"/>
                </a:solidFill>
                <a:latin typeface="Arial"/>
              </a:rPr>
              <a:t>Apply to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33172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i="0" b="0">
                <a:solidFill>
                  <a:srgbClr val="2B2B2B"/>
                </a:solidFill>
                <a:latin typeface="Arial"/>
              </a:rPr>
              <a:t>The fitted steps transform the test rows. Result: 67 features.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4048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111111"/>
                </a:solidFill>
                <a:latin typeface="Arial"/>
              </a:rPr>
              <a:t>Columns we removed, and why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9768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1">
                <a:solidFill>
                  <a:srgbClr val="2B2B2B"/>
                </a:solidFill>
                <a:latin typeface="Arial"/>
              </a:rPr>
              <a:t>End_Lat, End_Lng, End_Time:</a:t>
            </a:r>
            <a:r>
              <a:rPr sz="1600" i="0" b="0">
                <a:solidFill>
                  <a:srgbClr val="2B2B2B"/>
                </a:solidFill>
                <a:latin typeface="Arial"/>
              </a:rPr>
              <a:t> only known after the accident</a:t>
            </a:r>
          </a:p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1">
                <a:solidFill>
                  <a:srgbClr val="2B2B2B"/>
                </a:solidFill>
                <a:latin typeface="Arial"/>
              </a:rPr>
              <a:t>Distance(mi), Severity:</a:t>
            </a:r>
            <a:r>
              <a:rPr sz="1600" i="0" b="0">
                <a:solidFill>
                  <a:srgbClr val="2B2B2B"/>
                </a:solidFill>
                <a:latin typeface="Arial"/>
              </a:rPr>
              <a:t> they are the targets</a:t>
            </a:r>
          </a:p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1">
                <a:solidFill>
                  <a:srgbClr val="2B2B2B"/>
                </a:solidFill>
                <a:latin typeface="Arial"/>
              </a:rPr>
              <a:t>ID, Description:</a:t>
            </a:r>
            <a:r>
              <a:rPr sz="1600" i="0" b="0">
                <a:solidFill>
                  <a:srgbClr val="2B2B2B"/>
                </a:solidFill>
                <a:latin typeface="Arial"/>
              </a:rPr>
              <a:t> identifier and free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97680"/>
            <a:ext cx="53949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1">
                <a:solidFill>
                  <a:srgbClr val="2B2B2B"/>
                </a:solidFill>
                <a:latin typeface="Arial"/>
              </a:rPr>
              <a:t>Street, City, Zipcode, Airport_Code:</a:t>
            </a:r>
            <a:r>
              <a:rPr sz="1600" i="0" b="0">
                <a:solidFill>
                  <a:srgbClr val="2B2B2B"/>
                </a:solidFill>
                <a:latin typeface="Arial"/>
              </a:rPr>
              <a:t> too many categories</a:t>
            </a:r>
          </a:p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1">
                <a:solidFill>
                  <a:srgbClr val="2B2B2B"/>
                </a:solidFill>
                <a:latin typeface="Arial"/>
              </a:rPr>
              <a:t>Country, Turning_Loop:</a:t>
            </a:r>
            <a:r>
              <a:rPr sz="1600" i="0" b="0">
                <a:solidFill>
                  <a:srgbClr val="2B2B2B"/>
                </a:solidFill>
                <a:latin typeface="Arial"/>
              </a:rPr>
              <a:t> constant values</a:t>
            </a:r>
          </a:p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1">
                <a:solidFill>
                  <a:srgbClr val="2B2B2B"/>
                </a:solidFill>
                <a:latin typeface="Arial"/>
              </a:rPr>
              <a:t>Number:</a:t>
            </a:r>
            <a:r>
              <a:rPr sz="1600" i="0" b="0">
                <a:solidFill>
                  <a:srgbClr val="2B2B2B"/>
                </a:solidFill>
                <a:latin typeface="Arial"/>
              </a:rPr>
              <a:t> 65% missing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The 10 classification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10607040" cy="46268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3566160"/>
                <a:gridCol w="914400"/>
                <a:gridCol w="548640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Algorithm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Part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Main setting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Linear baseline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K-Nearest Neighbors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k = 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Gaussian Naive Bayes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Assumes independent features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Decision Tree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max_depth = 10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Support Vector Classifier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RBF kernel, stopped at 3,000 iterations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200 trees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AdaBoost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100 decision stumps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Gradient Boosting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100 trees, depth 3, learning rate 0.1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Bagging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50 decision trees (depth 10)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MLP neural network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Layers (64, 32), ReLU, early stopping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080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1" b="0">
                <a:solidFill>
                  <a:srgbClr val="6B6B6B"/>
                </a:solidFill>
                <a:latin typeface="Arial"/>
              </a:rPr>
              <a:t>Part A = Review 1 (white rows).  Part B = new in Review 2 (shaded rows).  All ten use the same train and test split.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How we compare the classifiers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i="0" b="1">
                <a:solidFill>
                  <a:srgbClr val="111111"/>
                </a:solidFill>
                <a:latin typeface="Arial"/>
              </a:rPr>
              <a:t>Metrics for every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Accuracy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Precision, recall and F1, </a:t>
            </a:r>
            <a:r>
              <a:rPr sz="1800" i="0" b="1">
                <a:solidFill>
                  <a:srgbClr val="2B2B2B"/>
                </a:solidFill>
                <a:latin typeface="Arial"/>
              </a:rPr>
              <a:t>weighted</a:t>
            </a:r>
            <a:r>
              <a:rPr sz="1800" i="0" b="0">
                <a:solidFill>
                  <a:srgbClr val="2B2B2B"/>
                </a:solidFill>
                <a:latin typeface="Arial"/>
              </a:rPr>
              <a:t> by class size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0">
                <a:solidFill>
                  <a:srgbClr val="2B2B2B"/>
                </a:solidFill>
                <a:latin typeface="Arial"/>
              </a:rPr>
              <a:t>Confusion matrix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800" i="0" b="1">
                <a:solidFill>
                  <a:srgbClr val="2B2B2B"/>
                </a:solidFill>
                <a:latin typeface="Arial"/>
              </a:rPr>
              <a:t>ROC-AUC, One-vs-Rest:</a:t>
            </a:r>
            <a:r>
              <a:rPr sz="1800" i="0" b="0">
                <a:solidFill>
                  <a:srgbClr val="2B2B2B"/>
                </a:solidFill>
                <a:latin typeface="Arial"/>
              </a:rPr>
              <a:t> each severity class against the rest, then the average of the four AUC values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5029200" cy="2148840"/>
          </a:xfrm>
          <a:prstGeom prst="rect">
            <a:avLst/>
          </a:prstGeom>
          <a:solidFill>
            <a:srgbClr val="F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463040"/>
            <a:ext cx="73152" cy="214884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554480"/>
            <a:ext cx="46634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111111"/>
                </a:solidFill>
                <a:latin typeface="Arial"/>
              </a:rPr>
              <a:t>How we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011680"/>
            <a:ext cx="46634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i="0" b="0">
                <a:solidFill>
                  <a:srgbClr val="2B2B2B"/>
                </a:solidFill>
                <a:latin typeface="Arial"/>
              </a:rPr>
              <a:t>1st: weighted F1</a:t>
            </a:r>
          </a:p>
          <a:p>
            <a:pPr algn="l">
              <a:spcAft>
                <a:spcPts val="400"/>
              </a:spcAft>
            </a:pPr>
            <a:r>
              <a:rPr sz="1700" i="0" b="0">
                <a:solidFill>
                  <a:srgbClr val="2B2B2B"/>
                </a:solidFill>
                <a:latin typeface="Arial"/>
              </a:rPr>
              <a:t>2nd (tie-break): ROC-AUC</a:t>
            </a:r>
          </a:p>
          <a:p>
            <a:pPr algn="l">
              <a:spcAft>
                <a:spcPts val="400"/>
              </a:spcAft>
            </a:pPr>
            <a:r>
              <a:rPr sz="1700" i="0" b="0">
                <a:solidFill>
                  <a:srgbClr val="2B2B2B"/>
                </a:solidFill>
                <a:latin typeface="Arial"/>
              </a:rPr>
              <a:t>Accuracy is shown but not used to rank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794760"/>
            <a:ext cx="5029200" cy="2286000"/>
          </a:xfrm>
          <a:prstGeom prst="rect">
            <a:avLst/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3794760"/>
            <a:ext cx="73152" cy="2286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886200"/>
            <a:ext cx="46634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111111"/>
                </a:solidFill>
                <a:latin typeface="Arial"/>
              </a:rPr>
              <a:t>About the SVC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343400"/>
            <a:ext cx="466344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i="0" b="0">
                <a:solidFill>
                  <a:srgbClr val="2B2B2B"/>
                </a:solidFill>
                <a:latin typeface="Arial"/>
              </a:rPr>
              <a:t>It was trained without probabilities, so we use its decision scores for ROC-AUC. AUC only needs a ranking, so this is valid. Every model has a real AUC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Results: all 10 classifiers on the same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972800" cy="43251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3108960"/>
                <a:gridCol w="1417320"/>
                <a:gridCol w="1554480"/>
                <a:gridCol w="1417320"/>
                <a:gridCol w="1417320"/>
                <a:gridCol w="1417320"/>
              </a:tblGrid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0.7490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0.7160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0.7490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0.6953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0.8170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Gradient Boosting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0.7495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0.7198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0.7495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0.6807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0.8181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MLP (neural net)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0.7430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0.6997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0.7430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0.6790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0.7997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Decision Tree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0.7371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0.6791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0.7371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0.6747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0.7154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KNN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0.7180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0.6622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0.7180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0.6725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0.6889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Bagging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0.7473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0.7184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0.7473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0.6707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0.7848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0.7336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0.6579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0.7336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0.6597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0.7745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AdaBoost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0.7312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0.6327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0.7312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0.6252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0.6981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SVC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0.6243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0.6156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0.6243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0.6171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0.6856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Gaussian Naive Bayes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0.1417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0.7257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0.1417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0.1608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0.6667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8521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1" b="0">
                <a:solidFill>
                  <a:srgbClr val="6B6B6B"/>
                </a:solidFill>
                <a:latin typeface="Arial"/>
              </a:rPr>
              <a:t>Test set: 8,554 accident records. Precision, recall and F1 are weighted. Ranked by F1, then ROC-AUC. Accuracy of always guessing Severity 2: 0.731.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Weighted F1 and ROC-AUC side by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i="0" b="1">
                <a:solidFill>
                  <a:srgbClr val="2B2B2B"/>
                </a:solidFill>
                <a:latin typeface="Arial"/>
              </a:rPr>
              <a:t>Weighted F1 (higher is better)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3736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i="0" b="1">
                <a:solidFill>
                  <a:srgbClr val="2B2B2B"/>
                </a:solidFill>
                <a:latin typeface="Arial"/>
              </a:rPr>
              <a:t>ROC-AUC, One-vs-Rest (higher is better)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17920" y="1737360"/>
          <a:ext cx="54864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58521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i="0" b="0">
                <a:solidFill>
                  <a:srgbClr val="111111"/>
                </a:solidFill>
                <a:latin typeface="Arial"/>
              </a:rPr>
              <a:t>The ensembles and the neural network lead. Gaussian Naive Bayes is far behind (accuracy only 14.2%).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Confusion matrices: where each model goes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9</a:t>
            </a:r>
          </a:p>
        </p:txBody>
      </p:sp>
      <p:pic>
        <p:nvPicPr>
          <p:cNvPr id="7" name="Picture 6" descr="confusion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9346162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65099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0" b="0">
                <a:solidFill>
                  <a:srgbClr val="2B2B2B"/>
                </a:solidFill>
                <a:latin typeface="Arial"/>
              </a:rPr>
              <a:t>Rows: true severity. Columns: predicted severity. Numbers are record counts; darker orange means a larger share of that true class. Almost every model predicts Severity 2 for most records, so Severity 3 and 4 are rarely found.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Choosing the final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i="0" b="1">
                <a:solidFill>
                  <a:srgbClr val="2B2B2B"/>
                </a:solidFill>
                <a:latin typeface="Arial"/>
              </a:rPr>
              <a:t>5-fold cross-validation, weighted F1 (training data)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37360"/>
          <a:ext cx="6126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0" y="1554480"/>
            <a:ext cx="47548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Random Forest ranks first: </a:t>
            </a:r>
            <a:r>
              <a:rPr sz="1700" i="0" b="1">
                <a:solidFill>
                  <a:srgbClr val="2B2B2B"/>
                </a:solidFill>
                <a:latin typeface="Arial"/>
              </a:rPr>
              <a:t>0.6938</a:t>
            </a:r>
            <a:r>
              <a:rPr sz="1700" i="0" b="0">
                <a:solidFill>
                  <a:srgbClr val="2B2B2B"/>
                </a:solidFill>
                <a:latin typeface="Arial"/>
              </a:rPr>
              <a:t> (spread 0.0030)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Cross-validation uses the </a:t>
            </a:r>
            <a:r>
              <a:rPr sz="1700" i="0" b="1">
                <a:solidFill>
                  <a:srgbClr val="2B2B2B"/>
                </a:solidFill>
                <a:latin typeface="Arial"/>
              </a:rPr>
              <a:t>training data only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Preprocessing is re-fitted inside every fold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The test set was </a:t>
            </a:r>
            <a:r>
              <a:rPr sz="1700" i="0" b="1">
                <a:solidFill>
                  <a:srgbClr val="2B2B2B"/>
                </a:solidFill>
                <a:latin typeface="Arial"/>
              </a:rPr>
              <a:t>not</a:t>
            </a:r>
            <a:r>
              <a:rPr sz="1700" i="0" b="0">
                <a:solidFill>
                  <a:srgbClr val="2B2B2B"/>
                </a:solidFill>
                <a:latin typeface="Arial"/>
              </a:rPr>
              <a:t> used to choose the model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Random Forest is also first on the test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Tuning the Random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126480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188720"/>
                <a:gridCol w="1188720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Test metric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Before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After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0.7490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0.7547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+0.0057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Precision (weighted)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0.7160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0.7272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+0.0112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Recall (weighted)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0.7490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0.7547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+0.0057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F1 (weighted)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0.6953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0.7067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+0.0114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ROC-AUC 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0.8170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0.8170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-0.000003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526280"/>
            <a:ext cx="61264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i="0" b="1">
                <a:solidFill>
                  <a:srgbClr val="2B2B2B"/>
                </a:solidFill>
                <a:latin typeface="Arial"/>
              </a:rPr>
              <a:t>Search:</a:t>
            </a:r>
            <a:r>
              <a:rPr sz="1500" i="0" b="0">
                <a:solidFill>
                  <a:srgbClr val="2B2B2B"/>
                </a:solidFill>
                <a:latin typeface="Arial"/>
              </a:rPr>
              <a:t> RandomizedSearchCV, 12 of 240 combinations, 3-fold CV, scored on weighted F1.</a:t>
            </a:r>
          </a:p>
          <a:p>
            <a:pPr algn="l">
              <a:spcAft>
                <a:spcPts val="600"/>
              </a:spcAft>
            </a:pPr>
            <a:r>
              <a:rPr sz="1500" i="0" b="1">
                <a:solidFill>
                  <a:srgbClr val="2B2B2B"/>
                </a:solidFill>
                <a:latin typeface="Arial"/>
              </a:rPr>
              <a:t>Best settings:</a:t>
            </a:r>
            <a:r>
              <a:rPr sz="1500" i="0" b="0">
                <a:solidFill>
                  <a:srgbClr val="2B2B2B"/>
                </a:solidFill>
                <a:latin typeface="Arial"/>
              </a:rPr>
              <a:t> 200 trees, max_depth 30, min_samples_leaf 5, max_features 0.5.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463040"/>
            <a:ext cx="4343400" cy="4754880"/>
          </a:xfrm>
          <a:prstGeom prst="rect">
            <a:avLst/>
          </a:prstGeom>
          <a:solidFill>
            <a:srgbClr val="F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463040"/>
            <a:ext cx="73152" cy="475488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55448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111111"/>
                </a:solidFill>
                <a:latin typeface="Arial"/>
              </a:rPr>
              <a:t>Is the improvement real?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03120"/>
            <a:ext cx="39319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Weighted F1 </a:t>
            </a:r>
            <a:r>
              <a:rPr sz="1600" i="0" b="1">
                <a:solidFill>
                  <a:srgbClr val="2B2B2B"/>
                </a:solidFill>
                <a:latin typeface="Arial"/>
              </a:rPr>
              <a:t>0.6953 to 0.7067</a:t>
            </a:r>
            <a:r>
              <a:rPr sz="1600" i="0" b="0">
                <a:solidFill>
                  <a:srgbClr val="2B2B2B"/>
                </a:solidFill>
                <a:latin typeface="Arial"/>
              </a:rPr>
              <a:t> (+0.0114), measured once on the test set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95% bootstrap interval: +0.0049 to +0.0179, which excludes zero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ROC-AUC did not change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Train minus test F1 gap fell from 0.305 to 0.156, but the model still overfits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What the final model still gets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i="0" b="1">
                <a:solidFill>
                  <a:srgbClr val="2B2B2B"/>
                </a:solidFill>
                <a:latin typeface="Arial"/>
              </a:rPr>
              <a:t>Recall for each severity class (tuned Random Forest)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37360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0" y="1554480"/>
            <a:ext cx="47548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Severity 2 is found well (recall </a:t>
            </a:r>
            <a:r>
              <a:rPr sz="1700" i="0" b="1">
                <a:solidFill>
                  <a:srgbClr val="2B2B2B"/>
                </a:solidFill>
                <a:latin typeface="Arial"/>
              </a:rPr>
              <a:t>0.952</a:t>
            </a:r>
            <a:r>
              <a:rPr sz="1700" i="0" b="0">
                <a:solidFill>
                  <a:srgbClr val="2B2B2B"/>
                </a:solidFill>
                <a:latin typeface="Arial"/>
              </a:rPr>
              <a:t>)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Severity 1 and 4 are rarely found (recall </a:t>
            </a:r>
            <a:r>
              <a:rPr sz="1700" i="0" b="1">
                <a:solidFill>
                  <a:srgbClr val="2B2B2B"/>
                </a:solidFill>
                <a:latin typeface="Arial"/>
              </a:rPr>
              <a:t>0.105</a:t>
            </a:r>
            <a:r>
              <a:rPr sz="1700" i="0" b="0">
                <a:solidFill>
                  <a:srgbClr val="2B2B2B"/>
                </a:solidFill>
                <a:latin typeface="Arial"/>
              </a:rPr>
              <a:t> and </a:t>
            </a:r>
            <a:r>
              <a:rPr sz="1700" i="0" b="1">
                <a:solidFill>
                  <a:srgbClr val="2B2B2B"/>
                </a:solidFill>
                <a:latin typeface="Arial"/>
              </a:rPr>
              <a:t>0.040</a:t>
            </a:r>
            <a:r>
              <a:rPr sz="1700" i="0" b="0">
                <a:solidFill>
                  <a:srgbClr val="2B2B2B"/>
                </a:solidFill>
                <a:latin typeface="Arial"/>
              </a:rPr>
              <a:t>)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Weighted F1 is 0.707, but macro F1 is only </a:t>
            </a:r>
            <a:r>
              <a:rPr sz="1700" i="0" b="1">
                <a:solidFill>
                  <a:srgbClr val="2B2B2B"/>
                </a:solidFill>
                <a:latin typeface="Arial"/>
              </a:rPr>
              <a:t>0.367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Per-class ROC-AUC is 0.76 to 0.94, so the probabilities carry signal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1">
                <a:solidFill>
                  <a:srgbClr val="2B2B2B"/>
                </a:solidFill>
                <a:latin typeface="Arial"/>
              </a:rPr>
              <a:t>Next step:</a:t>
            </a:r>
            <a:r>
              <a:rPr sz="1700" i="0" b="0">
                <a:solidFill>
                  <a:srgbClr val="2B2B2B"/>
                </a:solidFill>
                <a:latin typeface="Arial"/>
              </a:rPr>
              <a:t> class weights or probability thresholds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0" i="0" b="1">
                <a:solidFill>
                  <a:srgbClr val="F26B1D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5400" i="0" b="1">
                <a:solidFill>
                  <a:srgbClr val="FFFFFF"/>
                </a:solidFill>
                <a:latin typeface="Arial"/>
              </a:rP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i="0" b="0">
                <a:solidFill>
                  <a:srgbClr val="D9D9D9"/>
                </a:solidFill>
                <a:latin typeface="Arial"/>
              </a:rPr>
              <a:t>Can we find groups of similar accidents without using any label?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Clustering: the question and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64008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1">
                <a:solidFill>
                  <a:srgbClr val="2B2B2B"/>
                </a:solidFill>
                <a:latin typeface="Arial"/>
              </a:rPr>
              <a:t>Question:</a:t>
            </a:r>
            <a:r>
              <a:rPr sz="1700" i="0" b="0">
                <a:solidFill>
                  <a:srgbClr val="2B2B2B"/>
                </a:solidFill>
                <a:latin typeface="Arial"/>
              </a:rPr>
              <a:t> do accidents form natural groups by where, when, weather and nearby road features?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1">
                <a:solidFill>
                  <a:srgbClr val="2B2B2B"/>
                </a:solidFill>
                <a:latin typeface="Arial"/>
              </a:rPr>
              <a:t>No labels:</a:t>
            </a:r>
            <a:r>
              <a:rPr sz="1700" i="0" b="0">
                <a:solidFill>
                  <a:srgbClr val="2B2B2B"/>
                </a:solidFill>
                <a:latin typeface="Arial"/>
              </a:rPr>
              <a:t> Severity and Distance(mi) are not used for the features, for choosing k or for sampling. We look at them only afterwards.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1">
                <a:solidFill>
                  <a:srgbClr val="2B2B2B"/>
                </a:solidFill>
                <a:latin typeface="Arial"/>
              </a:rPr>
              <a:t>Features:</a:t>
            </a:r>
            <a:r>
              <a:rPr sz="1700" i="0" b="0">
                <a:solidFill>
                  <a:srgbClr val="2B2B2B"/>
                </a:solidFill>
                <a:latin typeface="Arial"/>
              </a:rPr>
              <a:t> latitude and longitude, five weather values, hour, weekday and month as sine and cosine pairs, night flag, six road flags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1">
                <a:solidFill>
                  <a:srgbClr val="2B2B2B"/>
                </a:solidFill>
                <a:latin typeface="Arial"/>
              </a:rPr>
              <a:t>Preparation:</a:t>
            </a:r>
            <a:r>
              <a:rPr sz="1700" i="0" b="0">
                <a:solidFill>
                  <a:srgbClr val="2B2B2B"/>
                </a:solidFill>
                <a:latin typeface="Arial"/>
              </a:rPr>
              <a:t> median imputation, standard scaling for continuous features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1">
                <a:solidFill>
                  <a:srgbClr val="2B2B2B"/>
                </a:solidFill>
                <a:latin typeface="Arial"/>
              </a:rPr>
              <a:t>Algorithms:</a:t>
            </a:r>
            <a:r>
              <a:rPr sz="1700" i="0" b="0">
                <a:solidFill>
                  <a:srgbClr val="2B2B2B"/>
                </a:solidFill>
                <a:latin typeface="Arial"/>
              </a:rPr>
              <a:t> K-Means and Agglomerative (Ward)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508760"/>
            <a:ext cx="4114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i="0" b="1">
                <a:solidFill>
                  <a:srgbClr val="F26B1D"/>
                </a:solidFill>
                <a:latin typeface="Arial"/>
              </a:rPr>
              <a:t>42,767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94560"/>
            <a:ext cx="4114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0" b="0">
                <a:solidFill>
                  <a:srgbClr val="6B6B6B"/>
                </a:solidFill>
                <a:latin typeface="Arial"/>
              </a:rPr>
              <a:t>records (one cut-off record removed)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880360"/>
            <a:ext cx="4114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i="0" b="1">
                <a:solidFill>
                  <a:srgbClr val="F26B1D"/>
                </a:solidFill>
                <a:latin typeface="Arial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566160"/>
            <a:ext cx="4114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0" b="0">
                <a:solidFill>
                  <a:srgbClr val="6B6B6B"/>
                </a:solidFill>
                <a:latin typeface="Arial"/>
              </a:rPr>
              <a:t>features after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251960"/>
            <a:ext cx="2103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i="0" b="1">
                <a:solidFill>
                  <a:srgbClr val="F26B1D"/>
                </a:solidFill>
                <a:latin typeface="Arial"/>
              </a:rPr>
              <a:t>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93776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0" b="0">
                <a:solidFill>
                  <a:srgbClr val="6B6B6B"/>
                </a:solidFill>
                <a:latin typeface="Arial"/>
              </a:rPr>
              <a:t>sample for Agglomerative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4251960"/>
            <a:ext cx="2103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i="0" b="1">
                <a:solidFill>
                  <a:srgbClr val="F26B1D"/>
                </a:solidFill>
                <a:latin typeface="Arial"/>
              </a:rPr>
              <a:t>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93776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0" b="0">
                <a:solidFill>
                  <a:srgbClr val="6B6B6B"/>
                </a:solidFill>
                <a:latin typeface="Arial"/>
              </a:rPr>
              <a:t>points in t-SNE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760720"/>
            <a:ext cx="4206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i="1" b="0">
                <a:solidFill>
                  <a:srgbClr val="6B6B6B"/>
                </a:solidFill>
                <a:latin typeface="Arial"/>
              </a:rPr>
              <a:t>Random sample with seed 42. Chosen without looking at any label.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K-Means: choosing k with the elbow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371600"/>
          <a:ext cx="6492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463040"/>
            <a:ext cx="448056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500" i="0" b="0">
                <a:solidFill>
                  <a:srgbClr val="2B2B2B"/>
                </a:solidFill>
                <a:latin typeface="Arial"/>
              </a:rPr>
              <a:t>The curve bends gently, so there is no sharp elbow</a:t>
            </a:r>
          </a:p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500" i="0" b="0">
                <a:solidFill>
                  <a:srgbClr val="2B2B2B"/>
                </a:solidFill>
                <a:latin typeface="Arial"/>
              </a:rPr>
              <a:t>Rule: pick the point farthest from the straight line between the two ends of the curve. That gives </a:t>
            </a:r>
            <a:r>
              <a:rPr sz="1500" i="0" b="1">
                <a:solidFill>
                  <a:srgbClr val="2B2B2B"/>
                </a:solidFill>
                <a:latin typeface="Arial"/>
              </a:rPr>
              <a:t>k = 6</a:t>
            </a:r>
          </a:p>
          <a:p>
            <a:pPr marL="274320" indent="-274320">
              <a:spcAft>
                <a:spcPts val="800"/>
              </a:spcAft>
              <a:buClr>
                <a:srgbClr val="F26B1D"/>
              </a:buClr>
              <a:buFont typeface="Arial"/>
              <a:buChar char="•"/>
            </a:pPr>
            <a:r>
              <a:rPr sz="1500" i="0" b="0">
                <a:solidFill>
                  <a:srgbClr val="2B2B2B"/>
                </a:solidFill>
                <a:latin typeface="Arial"/>
              </a:rPr>
              <a:t>Check: silhouette at k = 6 is 0.120, close to its best value 0.121 at k = 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4297680"/>
            <a:ext cx="4389120" cy="1920240"/>
          </a:xfrm>
          <a:prstGeom prst="rect">
            <a:avLst/>
          </a:prstGeom>
          <a:solidFill>
            <a:srgbClr val="F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4297680"/>
            <a:ext cx="73152" cy="192024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434340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i="0" b="1">
                <a:solidFill>
                  <a:srgbClr val="111111"/>
                </a:solidFill>
                <a:latin typeface="Arial"/>
              </a:rPr>
              <a:t>Final K-Means (all 42,767 records)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70916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F26B1D"/>
                </a:solidFill>
                <a:latin typeface="Arial"/>
              </a:rPr>
              <a:t>0.1195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70916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i="0" b="0">
                <a:solidFill>
                  <a:srgbClr val="2B2B2B"/>
                </a:solidFill>
                <a:latin typeface="Arial"/>
              </a:rPr>
              <a:t>Silhouette (higher is better)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5184648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F26B1D"/>
                </a:solidFill>
                <a:latin typeface="Arial"/>
              </a:rPr>
              <a:t>1.929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5184648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i="0" b="0">
                <a:solidFill>
                  <a:srgbClr val="2B2B2B"/>
                </a:solidFill>
                <a:latin typeface="Arial"/>
              </a:rPr>
              <a:t>Davies-Bouldin (lower is better)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660136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F26B1D"/>
                </a:solidFill>
                <a:latin typeface="Arial"/>
              </a:rPr>
              <a:t>4,345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5660136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i="0" b="0">
                <a:solidFill>
                  <a:srgbClr val="2B2B2B"/>
                </a:solidFill>
                <a:latin typeface="Arial"/>
              </a:rPr>
              <a:t>Calinski-Harabasz (higher is better)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Agglomerative clustering: the dendrogram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pic>
        <p:nvPicPr>
          <p:cNvPr id="7" name="Picture 6" descr="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10789920" cy="4161826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5624866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i="0" b="0">
                <a:solidFill>
                  <a:srgbClr val="2B2B2B"/>
                </a:solidFill>
                <a:latin typeface="Arial"/>
              </a:rPr>
              <a:t>Ward linkage on a random sample of 8,000 records (last 30 merges shown). The dashed line cuts the tree into 4 clusters, at the largest gap between merge heights.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Choosing the linkage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508760"/>
          <a:ext cx="704088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371600"/>
                <a:gridCol w="2011680"/>
                <a:gridCol w="20116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Linkage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Silhouette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Largest cluster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Smallest cluster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Ward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0.080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29.5%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4.15%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0.236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94.9%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0.04%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0.351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99.5%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0.03%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Single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0.468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99.8%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0.01%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343400"/>
            <a:ext cx="71323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i="1" b="0">
                <a:solidFill>
                  <a:srgbClr val="6B6B6B"/>
                </a:solidFill>
                <a:latin typeface="Arial"/>
              </a:rPr>
              <a:t>Same 8,000 records, k = 6 for all four linkages.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508760"/>
            <a:ext cx="365760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Single, average and complete linkage put 95% to 99.8% of the points into </a:t>
            </a:r>
            <a:r>
              <a:rPr sz="1600" i="0" b="1">
                <a:solidFill>
                  <a:srgbClr val="2B2B2B"/>
                </a:solidFill>
                <a:latin typeface="Arial"/>
              </a:rPr>
              <a:t>one cluster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Their higher silhouette comes from isolating a few outliers, so it is misleading</a:t>
            </a:r>
          </a:p>
          <a:p>
            <a:pPr marL="274320" indent="-274320">
              <a:spcAft>
                <a:spcPts val="10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1">
                <a:solidFill>
                  <a:srgbClr val="2B2B2B"/>
                </a:solidFill>
                <a:latin typeface="Arial"/>
              </a:rPr>
              <a:t>Ward</a:t>
            </a:r>
            <a:r>
              <a:rPr sz="1600" i="0" b="0">
                <a:solidFill>
                  <a:srgbClr val="2B2B2B"/>
                </a:solidFill>
                <a:latin typeface="Arial"/>
              </a:rPr>
              <a:t> gives balanced clusters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892040"/>
            <a:ext cx="10881360" cy="1371600"/>
          </a:xfrm>
          <a:prstGeom prst="rect">
            <a:avLst/>
          </a:prstGeom>
          <a:solidFill>
            <a:srgbClr val="F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892040"/>
            <a:ext cx="73152" cy="13716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37760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i="0" b="1">
                <a:solidFill>
                  <a:srgbClr val="111111"/>
                </a:solidFill>
                <a:latin typeface="Arial"/>
              </a:rPr>
              <a:t>Final Agglomerative model: Ward, k = 4, fitted on the 8,000-record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394960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i="0" b="1">
                <a:solidFill>
                  <a:srgbClr val="F26B1D"/>
                </a:solidFill>
                <a:latin typeface="Arial"/>
              </a:rPr>
              <a:t>Silhouette 0.1157   |   Davies-Bouldin 2.179   |   Calinski-Harabasz 756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PCA view of the clusters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18</a:t>
            </a:r>
          </a:p>
        </p:txBody>
      </p:sp>
      <p:pic>
        <p:nvPicPr>
          <p:cNvPr id="7" name="Picture 6" descr="pca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5290457" cy="4114800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pic>
        <p:nvPicPr>
          <p:cNvPr id="8" name="Picture 7" descr="pca_agglomer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90457" cy="4114800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596128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i="0" b="0">
                <a:solidFill>
                  <a:srgbClr val="2B2B2B"/>
                </a:solidFill>
                <a:latin typeface="Arial"/>
              </a:rPr>
              <a:t>Left: K-Means (k = 6). Right: Agglomerative (k = 4). PC1 and PC2 keep only 32.0% of the variance (18.7% and 13.3%), so clusters overlap in two dimensions.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t-SNE view of the clusters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19</a:t>
            </a:r>
          </a:p>
        </p:txBody>
      </p:sp>
      <p:pic>
        <p:nvPicPr>
          <p:cNvPr id="7" name="Picture 6" descr="tsne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5290457" cy="4114800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pic>
        <p:nvPicPr>
          <p:cNvPr id="8" name="Picture 7" descr="tsne_agglomer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90457" cy="4114800"/>
          </a:xfrm>
          <a:prstGeom prst="rect">
            <a:avLst/>
          </a:prstGeom>
          <a:ln w="9525">
            <a:solidFill>
              <a:srgbClr val="BDBDB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5778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i="0" b="0">
                <a:solidFill>
                  <a:srgbClr val="2B2B2B"/>
                </a:solidFill>
                <a:latin typeface="Arial"/>
              </a:rPr>
              <a:t>5,000 records, perplexity 30, seed 42, colored by each algorithm. Local groups look coherent. t-SNE distances and cluster sizes are not meaningful, so we use it only as a visual check.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Comparing the two clustering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972800" cy="31821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383280"/>
                <a:gridCol w="548640"/>
                <a:gridCol w="1554480"/>
                <a:gridCol w="1737360"/>
                <a:gridCol w="1234440"/>
                <a:gridCol w="1234440"/>
                <a:gridCol w="128016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Algorithm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Fitted on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Evaluated on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Silhouette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Davies-Bouldin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Calinski-Harabasz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K-Means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all 42,767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all 42,767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0.1195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1.929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4,345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K-Means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all 42,767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8,000 sample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0.1202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1.918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Agglomerative (Ward)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8,000 sample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8,000 sample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0.1157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2.179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756</a:t>
                      </a:r>
                    </a:p>
                  </a:txBody>
                  <a:tcPr anchor="ctr" marL="91440" marR="91440" marT="18288" marB="18288">
                    <a:solidFill>
                      <a:srgbClr val="FDE6D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K-Means (same k as Ward)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8,000 sample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8,000 sample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0.1156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2.098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Agglomerative (same k as K-Means)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8,000 sample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8,000 sample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0.0797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2.304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662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800600"/>
            <a:ext cx="109728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400" i="0" b="1">
                <a:solidFill>
                  <a:srgbClr val="2B2B2B"/>
                </a:solidFill>
                <a:latin typeface="Arial"/>
              </a:rPr>
              <a:t>Silhouette</a:t>
            </a:r>
            <a:r>
              <a:rPr sz="1400" i="0" b="0">
                <a:solidFill>
                  <a:srgbClr val="2B2B2B"/>
                </a:solidFill>
                <a:latin typeface="Arial"/>
              </a:rPr>
              <a:t> and </a:t>
            </a:r>
            <a:r>
              <a:rPr sz="1400" i="0" b="1">
                <a:solidFill>
                  <a:srgbClr val="2B2B2B"/>
                </a:solidFill>
                <a:latin typeface="Arial"/>
              </a:rPr>
              <a:t>Calinski-Harabasz</a:t>
            </a:r>
            <a:r>
              <a:rPr sz="1400" i="0" b="0">
                <a:solidFill>
                  <a:srgbClr val="2B2B2B"/>
                </a:solidFill>
                <a:latin typeface="Arial"/>
              </a:rPr>
              <a:t>: higher is better.  </a:t>
            </a:r>
            <a:r>
              <a:rPr sz="1400" i="0" b="1">
                <a:solidFill>
                  <a:srgbClr val="2B2B2B"/>
                </a:solidFill>
                <a:latin typeface="Arial"/>
              </a:rPr>
              <a:t>Davies-Bouldin</a:t>
            </a:r>
            <a:r>
              <a:rPr sz="1400" i="0" b="0">
                <a:solidFill>
                  <a:srgbClr val="2B2B2B"/>
                </a:solidFill>
                <a:latin typeface="Arial"/>
              </a:rPr>
              <a:t>: lower is better.  Do not compare the numbers of different indices.</a:t>
            </a:r>
          </a:p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400" i="0" b="0">
                <a:solidFill>
                  <a:srgbClr val="2B2B2B"/>
                </a:solidFill>
                <a:latin typeface="Arial"/>
              </a:rPr>
              <a:t>On the same 8,000-record sample and the same k = 4, the two algorithms tie on silhouette; K-Means is better on the other two.</a:t>
            </a:r>
          </a:p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400" i="0" b="0">
                <a:solidFill>
                  <a:srgbClr val="2B2B2B"/>
                </a:solidFill>
                <a:latin typeface="Arial"/>
              </a:rPr>
              <a:t>Calinski-Harabasz grows with the number of records, so 42,767 and 8,000 records cannot be compared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What the K-Means clusters look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789920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22960"/>
                <a:gridCol w="1005840"/>
                <a:gridCol w="914400"/>
                <a:gridCol w="1005840"/>
                <a:gridCol w="914400"/>
                <a:gridCol w="1005840"/>
                <a:gridCol w="1005840"/>
                <a:gridCol w="100584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Cluster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Records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Avg lat.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Avg long.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Temp (F)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Humidity %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Pressure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Visibility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Our reading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1,432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39.2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-112.4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25.6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9.7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Mountain West, high altitude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8,452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37.3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-119.1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29.8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9.5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California and Pacific coast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10,122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40.0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-81.9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29.8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9.9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Ohio Valley, cold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3,957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38.2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-92.2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29.7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2.9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Central, humid, low visibility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9,789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36.2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-101.1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29.7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10.1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Southern Plains, warm, daytime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9,015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30.9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-85.5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29.9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9.7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Southeast, humid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754880"/>
            <a:ext cx="109728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500" i="0" b="0">
                <a:solidFill>
                  <a:srgbClr val="2B2B2B"/>
                </a:solidFill>
                <a:latin typeface="Arial"/>
              </a:rPr>
              <a:t>The clusters mostly separate </a:t>
            </a:r>
            <a:r>
              <a:rPr sz="1500" i="0" b="1">
                <a:solidFill>
                  <a:srgbClr val="2B2B2B"/>
                </a:solidFill>
                <a:latin typeface="Arial"/>
              </a:rPr>
              <a:t>regions and climate</a:t>
            </a:r>
            <a:r>
              <a:rPr sz="1500" i="0" b="0">
                <a:solidFill>
                  <a:srgbClr val="2B2B2B"/>
                </a:solidFill>
                <a:latin typeface="Arial"/>
              </a:rPr>
              <a:t>. "Our reading" is our interpretation of the averages and still needs checking on a map.</a:t>
            </a:r>
          </a:p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500" i="0" b="0">
                <a:solidFill>
                  <a:srgbClr val="2B2B2B"/>
                </a:solidFill>
                <a:latin typeface="Arial"/>
              </a:rPr>
              <a:t>Compared with Severity afterwards, the clusters show </a:t>
            </a:r>
            <a:r>
              <a:rPr sz="1500" i="0" b="1">
                <a:solidFill>
                  <a:srgbClr val="2B2B2B"/>
                </a:solidFill>
                <a:latin typeface="Arial"/>
              </a:rPr>
              <a:t>no link</a:t>
            </a:r>
            <a:r>
              <a:rPr sz="1500" i="0" b="0">
                <a:solidFill>
                  <a:srgbClr val="2B2B2B"/>
                </a:solidFill>
                <a:latin typeface="Arial"/>
              </a:rPr>
              <a:t> (adjusted Rand index -0.0002). Every cluster is 70% to 79% Severity 2.</a:t>
            </a:r>
          </a:p>
          <a:p>
            <a:pPr marL="274320" indent="-274320">
              <a:spcAft>
                <a:spcPts val="600"/>
              </a:spcAft>
              <a:buClr>
                <a:srgbClr val="F26B1D"/>
              </a:buClr>
              <a:buFont typeface="Arial"/>
              <a:buChar char="•"/>
            </a:pPr>
            <a:r>
              <a:rPr sz="1500" i="0" b="0">
                <a:solidFill>
                  <a:srgbClr val="2B2B2B"/>
                </a:solidFill>
                <a:latin typeface="Arial"/>
              </a:rPr>
              <a:t>Structure is weak overall (silhouette about 0.12)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Conclusions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303520" cy="50292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937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FFFFFF"/>
                </a:solidFill>
                <a:latin typeface="Arial"/>
              </a:rPr>
              <a:t>What we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All 10 classifiers are compared in one table. </a:t>
            </a:r>
            <a:r>
              <a:rPr sz="1700" i="0" b="1">
                <a:solidFill>
                  <a:srgbClr val="2B2B2B"/>
                </a:solidFill>
                <a:latin typeface="Arial"/>
              </a:rPr>
              <a:t>Random Forest</a:t>
            </a:r>
            <a:r>
              <a:rPr sz="1700" i="0" b="0">
                <a:solidFill>
                  <a:srgbClr val="2B2B2B"/>
                </a:solidFill>
                <a:latin typeface="Arial"/>
              </a:rPr>
              <a:t> is best (F1 0.6953)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Tuning raised weighted F1 to </a:t>
            </a:r>
            <a:r>
              <a:rPr sz="1700" i="0" b="1">
                <a:solidFill>
                  <a:srgbClr val="2B2B2B"/>
                </a:solidFill>
                <a:latin typeface="Arial"/>
              </a:rPr>
              <a:t>0.7067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Clustering finds regional and climate groups, not severity groups</a:t>
            </a:r>
          </a:p>
          <a:p>
            <a:pPr marL="274320" indent="-274320">
              <a:spcAft>
                <a:spcPts val="1200"/>
              </a:spcAft>
              <a:buClr>
                <a:srgbClr val="F26B1D"/>
              </a:buClr>
              <a:buFont typeface="Arial"/>
              <a:buChar char="•"/>
            </a:pPr>
            <a:r>
              <a:rPr sz="1700" i="0" b="0">
                <a:solidFill>
                  <a:srgbClr val="2B2B2B"/>
                </a:solidFill>
                <a:latin typeface="Arial"/>
              </a:rPr>
              <a:t>K-Means (k = 6) and Ward (k = 4) were both fitted and scored with all three indices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303520" cy="5029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40"/>
            <a:ext cx="4937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i="0" b="1">
                <a:solidFill>
                  <a:srgbClr val="FFFFFF"/>
                </a:solidFill>
                <a:latin typeface="Arial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Severity 1 and 4 are rarely detected</a:t>
            </a:r>
          </a:p>
          <a:p>
            <a:pPr marL="274320" indent="-274320">
              <a:spcAft>
                <a:spcPts val="9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The SVC stopped at 3,000 iterations and did not converge</a:t>
            </a:r>
          </a:p>
          <a:p>
            <a:pPr marL="274320" indent="-274320">
              <a:spcAft>
                <a:spcPts val="9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The tuning search was small (12 random combinations)</a:t>
            </a:r>
          </a:p>
          <a:p>
            <a:pPr marL="274320" indent="-274320">
              <a:spcAft>
                <a:spcPts val="9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Agglomerative clustering uses a sample of 8,000 records</a:t>
            </a:r>
          </a:p>
          <a:p>
            <a:pPr marL="274320" indent="-274320">
              <a:spcAft>
                <a:spcPts val="9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Cluster structure is weak (silhouette about 0.12)</a:t>
            </a:r>
          </a:p>
          <a:p>
            <a:pPr marL="274320" indent="-274320">
              <a:spcAft>
                <a:spcPts val="900"/>
              </a:spcAft>
              <a:buClr>
                <a:srgbClr val="F26B1D"/>
              </a:buClr>
              <a:buFont typeface="Arial"/>
              <a:buChar char="•"/>
            </a:pPr>
            <a:r>
              <a:rPr sz="1600" i="0" b="0">
                <a:solidFill>
                  <a:srgbClr val="2B2B2B"/>
                </a:solidFill>
                <a:latin typeface="Arial"/>
              </a:rPr>
              <a:t>The last record of the dataset file is cut off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i="0" b="1">
                <a:solidFill>
                  <a:srgbClr val="111111"/>
                </a:solidFill>
                <a:latin typeface="Arial"/>
              </a:rPr>
              <a:t>Project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914400" cy="64008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i="0" b="0">
                <a:solidFill>
                  <a:srgbClr val="6B6B6B"/>
                </a:solidFill>
                <a:latin typeface="Arial"/>
              </a:rPr>
              <a:t>US Accidents  |  ML Capstone  |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0" b="0">
                <a:solidFill>
                  <a:srgbClr val="6B6B6B"/>
                </a:solidFill>
                <a:latin typeface="Arial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81360" cy="42793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4572000"/>
                <a:gridCol w="4206240"/>
                <a:gridCol w="13716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Where to find it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91440" marR="91440" marT="18288" marB="18288">
                    <a:solidFill>
                      <a:srgbClr val="11111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D1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Jupyter notebooks: regression, classification, clustering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Run from start to end, outputs saved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D2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GitHub repository with commit history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Project folder is ready; team pushes it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Team to do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D3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Comparison tables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Regression, classification, clustering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D4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Required plots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EDA, residuals, importance, confusion matrices, ROC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D5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README file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Dataset, setup, how to run, results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D6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Table of all 10 classifiers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Slide 7 and the classification notebook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D7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Cluster plots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Elbow, dendrogram, PCA, t-SNE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D8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GUI or deployment (bonus)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Not built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Not done</a:t>
                      </a:r>
                    </a:p>
                  </a:txBody>
                  <a:tcPr anchor="ctr" marL="91440" marR="91440" marT="18288" marB="18288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9436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i="1" b="0">
                <a:solidFill>
                  <a:srgbClr val="6B6B6B"/>
                </a:solidFill>
                <a:latin typeface="Arial"/>
              </a:rPr>
              <a:t>Also included: results folder (tables and figures) and a viva preparation guide.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0" i="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i="0" b="1">
                <a:solidFill>
                  <a:srgbClr val="F26B1D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i="0" b="0">
                <a:solidFill>
                  <a:srgbClr val="D9D9D9"/>
                </a:solidFill>
                <a:latin typeface="Arial"/>
              </a:rPr>
              <a:t>Vibin Ragav S   |   Shre Raam P J   |   Nitin Pranav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