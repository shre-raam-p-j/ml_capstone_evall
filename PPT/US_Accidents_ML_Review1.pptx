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accidents</c:v>
                </c:pt>
              </c:strCache>
            </c:strRef>
          </c:tx>
          <c:spPr>
            <a:solidFill>
              <a:srgbClr val="2FD8E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5F7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0–0.5 mi</c:v>
                  </c:pt>
                  <c:pt idx="1">
                    <c:v>0.5–1 mi</c:v>
                  </c:pt>
                  <c:pt idx="2">
                    <c:v>1–2 mi</c:v>
                  </c:pt>
                  <c:pt idx="3">
                    <c:v>2–5 mi</c:v>
                  </c:pt>
                  <c:pt idx="4">
                    <c:v>5+ mi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</c:v>
                </c:pt>
                <c:pt idx="1">
                  <c:v>8.7</c:v>
                </c:pt>
                <c:pt idx="2">
                  <c:v>4.8</c:v>
                </c:pt>
                <c:pt idx="3">
                  <c:v>3.2</c:v>
                </c:pt>
                <c:pt idx="4">
                  <c:v>1.2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5F7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304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7A2C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4304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7A2C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A2E"/>
        </a:solidFill>
        <a:ln>
          <a:noFill/>
        </a:ln>
        <a:effectLst/>
      </c:spPr>
    </c:plotArea>
    <c:plotVisOnly val="1"/>
    <c:dispBlanksAs val="span"/>
  </c:chart>
  <c:spPr>
    <a:solidFill>
      <a:srgbClr val="121A2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accidents</c:v>
                </c:pt>
              </c:strCache>
            </c:strRef>
          </c:tx>
          <c:spPr>
            <a:solidFill>
              <a:srgbClr val="9B87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5F7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Sev 1</c:v>
                  </c:pt>
                  <c:pt idx="1">
                    <c:v>Sev 2</c:v>
                  </c:pt>
                  <c:pt idx="2">
                    <c:v>Sev 3</c:v>
                  </c:pt>
                  <c:pt idx="3">
                    <c:v>Sev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73.1</c:v>
                </c:pt>
                <c:pt idx="2">
                  <c:v>21.8</c:v>
                </c:pt>
                <c:pt idx="3">
                  <c:v>4.1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5F7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304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7A2C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4304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7A2C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A2E"/>
        </a:solidFill>
        <a:ln>
          <a:noFill/>
        </a:ln>
        <a:effectLst/>
      </c:spPr>
    </c:plotArea>
    <c:plotVisOnly val="1"/>
    <c:dispBlanksAs val="span"/>
  </c:chart>
  <c:spPr>
    <a:solidFill>
      <a:srgbClr val="121A2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records</c:v>
                </c:pt>
              </c:strCache>
            </c:strRef>
          </c:tx>
          <c:spPr>
            <a:solidFill>
              <a:srgbClr val="5E69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5F7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E69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16E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B84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E698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Severity 1</c:v>
                  </c:pt>
                  <c:pt idx="1">
                    <c:v>Severity 2</c:v>
                  </c:pt>
                  <c:pt idx="2">
                    <c:v>Severity 3</c:v>
                  </c:pt>
                  <c:pt idx="3">
                    <c:v>Severity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73.1</c:v>
                </c:pt>
                <c:pt idx="2">
                  <c:v>21.8</c:v>
                </c:pt>
                <c:pt idx="3">
                  <c:v>4.1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5F7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304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7A2C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4304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7A2C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A2E"/>
        </a:solidFill>
        <a:ln>
          <a:noFill/>
        </a:ln>
        <a:effectLst/>
      </c:spPr>
    </c:plotArea>
    <c:plotVisOnly val="1"/>
    <c:dispBlanksAs val="span"/>
  </c:chart>
  <c:spPr>
    <a:solidFill>
      <a:srgbClr val="121A2E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2FD8EC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F5F7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Random
Forest</c:v>
                  </c:pt>
                  <c:pt idx="1">
                    <c:v>Gradient
Boosting</c:v>
                  </c:pt>
                  <c:pt idx="2">
                    <c:v>Polynomial
(d2)</c:v>
                  </c:pt>
                  <c:pt idx="3">
                    <c:v>Linear
Reg.</c:v>
                  </c:pt>
                  <c:pt idx="4">
                    <c:v>Ridge</c:v>
                  </c:pt>
                  <c:pt idx="5">
                    <c:v>ElasticNet</c:v>
                  </c:pt>
                  <c:pt idx="6">
                    <c:v>Lasso</c:v>
                  </c:pt>
                  <c:pt idx="7">
                    <c:v>SVR</c:v>
                  </c:pt>
                  <c:pt idx="8">
                    <c:v>KNN
(k=7)</c:v>
                  </c:pt>
                  <c:pt idx="9">
                    <c:v>Decision
Tree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0.0485</c:v>
                </c:pt>
                <c:pt idx="1">
                  <c:v>0.0417</c:v>
                </c:pt>
                <c:pt idx="2">
                  <c:v>0.0381</c:v>
                </c:pt>
                <c:pt idx="3">
                  <c:v>0.037</c:v>
                </c:pt>
                <c:pt idx="4">
                  <c:v>0.037</c:v>
                </c:pt>
                <c:pt idx="5">
                  <c:v>0.0326</c:v>
                </c:pt>
                <c:pt idx="6">
                  <c:v>0.0292</c:v>
                </c:pt>
                <c:pt idx="7">
                  <c:v>-0.0141</c:v>
                </c:pt>
                <c:pt idx="8">
                  <c:v>-0.1277</c:v>
                </c:pt>
                <c:pt idx="9">
                  <c:v>-0.1703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750" u="none">
                  <a:solidFill>
                    <a:srgbClr val="F5F7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304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7A2C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4304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7A2C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A2E"/>
        </a:solidFill>
        <a:ln>
          <a:noFill/>
        </a:ln>
        <a:effectLst/>
      </c:spPr>
    </c:plotArea>
    <c:plotVisOnly val="1"/>
    <c:dispBlanksAs val="span"/>
  </c:chart>
  <c:spPr>
    <a:solidFill>
      <a:srgbClr val="121A2E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R²</c:v>
                </c:pt>
              </c:strCache>
            </c:strRef>
          </c:tx>
          <c:spPr>
            <a:solidFill>
              <a:srgbClr val="5E698C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5F7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Random Forest</c:v>
                  </c:pt>
                  <c:pt idx="1">
                    <c:v>Gradient Boosting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0.0485</c:v>
                </c:pt>
                <c:pt idx="1">
                  <c:v>0.0417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Tuned R²</c:v>
                </c:pt>
              </c:strCache>
            </c:strRef>
          </c:tx>
          <c:spPr>
            <a:solidFill>
              <a:srgbClr val="2FD8EC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5F7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Random Forest</c:v>
                  </c:pt>
                  <c:pt idx="1">
                    <c:v>Gradient Boosting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0.0419</c:v>
                </c:pt>
                <c:pt idx="1">
                  <c:v>0.0455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800" u="none">
                  <a:solidFill>
                    <a:srgbClr val="F5F7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304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7A2C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6"/>
          <c:min val="0"/>
        </c:scaling>
        <c:delete val="0"/>
        <c:axPos val="l"/>
        <c:majorGridlines>
          <c:spPr>
            <a:ln w="9525" cap="flat">
              <a:solidFill>
                <a:srgbClr val="24304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7A2C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A2E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7A2C2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21A2E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2FD8EC"/>
            </a:solidFill>
            <a:ln w="28575" cap="flat">
              <a:solidFill>
                <a:srgbClr val="2FD8E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FD8EC"/>
              </a:solidFill>
              <a:ln w="9525" cap="flat">
                <a:solidFill>
                  <a:srgbClr val="2FD8E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Fold 1</c:v>
                  </c:pt>
                  <c:pt idx="1">
                    <c:v>Fold 2</c:v>
                  </c:pt>
                  <c:pt idx="2">
                    <c:v>Fold 3</c:v>
                  </c:pt>
                  <c:pt idx="3">
                    <c:v>Fold 4</c:v>
                  </c:pt>
                  <c:pt idx="4">
                    <c:v>Fold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0.0089</c:v>
                </c:pt>
                <c:pt idx="1">
                  <c:v>0.0405</c:v>
                </c:pt>
                <c:pt idx="2">
                  <c:v>-0.0152</c:v>
                </c:pt>
                <c:pt idx="3">
                  <c:v>-0.0166</c:v>
                </c:pt>
                <c:pt idx="4">
                  <c:v>-0.2331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Gradient Boosting</c:v>
                </c:pt>
              </c:strCache>
            </c:strRef>
          </c:tx>
          <c:spPr>
            <a:solidFill>
              <a:srgbClr val="9B87F5"/>
            </a:solidFill>
            <a:ln w="28575" cap="flat">
              <a:solidFill>
                <a:srgbClr val="9B87F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B87F5"/>
              </a:solidFill>
              <a:ln w="9525" cap="flat">
                <a:solidFill>
                  <a:srgbClr val="9B87F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Fold 1</c:v>
                  </c:pt>
                  <c:pt idx="1">
                    <c:v>Fold 2</c:v>
                  </c:pt>
                  <c:pt idx="2">
                    <c:v>Fold 3</c:v>
                  </c:pt>
                  <c:pt idx="3">
                    <c:v>Fold 4</c:v>
                  </c:pt>
                  <c:pt idx="4">
                    <c:v>Fold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0.0072</c:v>
                </c:pt>
                <c:pt idx="1">
                  <c:v>0.0311</c:v>
                </c:pt>
                <c:pt idx="2">
                  <c:v>-0.382</c:v>
                </c:pt>
                <c:pt idx="3">
                  <c:v>-0.0144</c:v>
                </c:pt>
                <c:pt idx="4">
                  <c:v>-0.1636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304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7A2C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4304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7A2C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A2E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7A2C2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21A2E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FD8E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5F7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Decision
Tree</c:v>
                  </c:pt>
                  <c:pt idx="1">
                    <c:v>KNN</c:v>
                  </c:pt>
                  <c:pt idx="2">
                    <c:v>Logistic
Regression</c:v>
                  </c:pt>
                  <c:pt idx="3">
                    <c:v>SVC</c:v>
                  </c:pt>
                  <c:pt idx="4">
                    <c:v>Gaussian
NB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73.71</c:v>
                </c:pt>
                <c:pt idx="1">
                  <c:v>71.8</c:v>
                </c:pt>
                <c:pt idx="2">
                  <c:v>73.38</c:v>
                </c:pt>
                <c:pt idx="3">
                  <c:v>62.43</c:v>
                </c:pt>
                <c:pt idx="4">
                  <c:v>14.17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F5F7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304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7A2C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4304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7A2C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A2E"/>
        </a:solidFill>
        <a:ln>
          <a:noFill/>
        </a:ln>
        <a:effectLst/>
      </c:spPr>
    </c:plotArea>
    <c:plotVisOnly val="1"/>
    <c:dispBlanksAs val="span"/>
  </c:chart>
  <c:spPr>
    <a:solidFill>
      <a:srgbClr val="121A2E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F1</c:v>
                </c:pt>
              </c:strCache>
            </c:strRef>
          </c:tx>
          <c:spPr>
            <a:solidFill>
              <a:srgbClr val="9B87F5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5F7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Decision
Tree</c:v>
                  </c:pt>
                  <c:pt idx="1">
                    <c:v>KNN</c:v>
                  </c:pt>
                  <c:pt idx="2">
                    <c:v>Logistic
Regression</c:v>
                  </c:pt>
                  <c:pt idx="3">
                    <c:v>SVC</c:v>
                  </c:pt>
                  <c:pt idx="4">
                    <c:v>Gaussian
NB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0.6747</c:v>
                </c:pt>
                <c:pt idx="1">
                  <c:v>0.6725</c:v>
                </c:pt>
                <c:pt idx="2">
                  <c:v>0.6598</c:v>
                </c:pt>
                <c:pt idx="3">
                  <c:v>0.6171</c:v>
                </c:pt>
                <c:pt idx="4">
                  <c:v>0.1608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900" u="none">
                  <a:solidFill>
                    <a:srgbClr val="F5F7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304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7A2C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4304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7A2C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A2E"/>
        </a:solidFill>
        <a:ln>
          <a:noFill/>
        </a:ln>
        <a:effectLst/>
      </c:spPr>
    </c:plotArea>
    <c:plotVisOnly val="1"/>
    <c:dispBlanksAs val="span"/>
  </c:chart>
  <c:spPr>
    <a:solidFill>
      <a:srgbClr val="121A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914400"/>
            <a:ext cx="914400" cy="502920"/>
          </a:xfrm>
          <a:prstGeom prst="line">
            <a:avLst/>
          </a:prstGeom>
          <a:noFill/>
          <a:ln w="13970">
            <a:solidFill>
              <a:srgbClr val="1621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9966960" y="1417320"/>
            <a:ext cx="640080" cy="640080"/>
          </a:xfrm>
          <a:prstGeom prst="line">
            <a:avLst/>
          </a:prstGeom>
          <a:noFill/>
          <a:ln w="13970">
            <a:solidFill>
              <a:srgbClr val="1621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1417320"/>
            <a:ext cx="502920" cy="914400"/>
          </a:xfrm>
          <a:prstGeom prst="line">
            <a:avLst/>
          </a:prstGeom>
          <a:noFill/>
          <a:ln w="13970">
            <a:solidFill>
              <a:srgbClr val="1621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66960" y="2057400"/>
            <a:ext cx="411480" cy="1005840"/>
          </a:xfrm>
          <a:prstGeom prst="line">
            <a:avLst/>
          </a:prstGeom>
          <a:noFill/>
          <a:ln w="13970">
            <a:solidFill>
              <a:srgbClr val="1621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10378440" y="2331720"/>
            <a:ext cx="731520" cy="731520"/>
          </a:xfrm>
          <a:prstGeom prst="line">
            <a:avLst/>
          </a:prstGeom>
          <a:noFill/>
          <a:ln w="13970">
            <a:solidFill>
              <a:srgbClr val="1621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09960" y="2331720"/>
            <a:ext cx="320040" cy="1051560"/>
          </a:xfrm>
          <a:prstGeom prst="line">
            <a:avLst/>
          </a:prstGeom>
          <a:noFill/>
          <a:ln w="13970">
            <a:solidFill>
              <a:srgbClr val="1621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9646920" y="3063240"/>
            <a:ext cx="731520" cy="731520"/>
          </a:xfrm>
          <a:prstGeom prst="line">
            <a:avLst/>
          </a:prstGeom>
          <a:noFill/>
          <a:ln w="13970">
            <a:solidFill>
              <a:srgbClr val="1621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78440" y="3063240"/>
            <a:ext cx="320040" cy="1143000"/>
          </a:xfrm>
          <a:prstGeom prst="line">
            <a:avLst/>
          </a:prstGeom>
          <a:noFill/>
          <a:ln w="13970">
            <a:solidFill>
              <a:srgbClr val="1621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10698480" y="3383280"/>
            <a:ext cx="731520" cy="822960"/>
          </a:xfrm>
          <a:prstGeom prst="line">
            <a:avLst/>
          </a:prstGeom>
          <a:noFill/>
          <a:ln w="13970">
            <a:solidFill>
              <a:srgbClr val="1621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0" y="4206240"/>
            <a:ext cx="457200" cy="685800"/>
          </a:xfrm>
          <a:prstGeom prst="line">
            <a:avLst/>
          </a:prstGeom>
          <a:noFill/>
          <a:ln w="13970">
            <a:solidFill>
              <a:srgbClr val="1621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46920" y="3794760"/>
            <a:ext cx="320040" cy="1280160"/>
          </a:xfrm>
          <a:prstGeom prst="line">
            <a:avLst/>
          </a:prstGeom>
          <a:noFill/>
          <a:ln w="13970">
            <a:solidFill>
              <a:srgbClr val="1621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9966960" y="4206240"/>
            <a:ext cx="731520" cy="868680"/>
          </a:xfrm>
          <a:prstGeom prst="line">
            <a:avLst/>
          </a:prstGeom>
          <a:noFill/>
          <a:ln w="13970">
            <a:solidFill>
              <a:srgbClr val="1621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37776" y="859536"/>
            <a:ext cx="109728" cy="109728"/>
          </a:xfrm>
          <a:prstGeom prst="ellipse">
            <a:avLst/>
          </a:prstGeom>
          <a:solidFill>
            <a:srgbClr val="2FD8EC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52176" y="1362456"/>
            <a:ext cx="109728" cy="109728"/>
          </a:xfrm>
          <a:prstGeom prst="ellipse">
            <a:avLst/>
          </a:prstGeom>
          <a:solidFill>
            <a:srgbClr val="5C8DF6"/>
          </a:solidFill>
          <a:ln/>
        </p:spPr>
      </p:sp>
      <p:sp>
        <p:nvSpPr>
          <p:cNvPr id="16" name="Shape 14"/>
          <p:cNvSpPr/>
          <p:nvPr/>
        </p:nvSpPr>
        <p:spPr>
          <a:xfrm>
            <a:off x="9912096" y="2002536"/>
            <a:ext cx="109728" cy="109728"/>
          </a:xfrm>
          <a:prstGeom prst="ellipse">
            <a:avLst/>
          </a:prstGeom>
          <a:solidFill>
            <a:srgbClr val="5C8DF6"/>
          </a:solidFill>
          <a:ln/>
        </p:spPr>
      </p:sp>
      <p:sp>
        <p:nvSpPr>
          <p:cNvPr id="17" name="Shape 15"/>
          <p:cNvSpPr/>
          <p:nvPr/>
        </p:nvSpPr>
        <p:spPr>
          <a:xfrm>
            <a:off x="11055096" y="2276856"/>
            <a:ext cx="109728" cy="109728"/>
          </a:xfrm>
          <a:prstGeom prst="ellipse">
            <a:avLst/>
          </a:prstGeom>
          <a:solidFill>
            <a:srgbClr val="2FD8EC"/>
          </a:solidFill>
          <a:ln/>
        </p:spPr>
      </p:sp>
      <p:sp>
        <p:nvSpPr>
          <p:cNvPr id="18" name="Shape 16"/>
          <p:cNvSpPr/>
          <p:nvPr/>
        </p:nvSpPr>
        <p:spPr>
          <a:xfrm>
            <a:off x="10323576" y="3008376"/>
            <a:ext cx="109728" cy="109728"/>
          </a:xfrm>
          <a:prstGeom prst="ellipse">
            <a:avLst/>
          </a:prstGeom>
          <a:solidFill>
            <a:srgbClr val="5C8DF6"/>
          </a:solidFill>
          <a:ln/>
        </p:spPr>
      </p:sp>
      <p:sp>
        <p:nvSpPr>
          <p:cNvPr id="19" name="Shape 17"/>
          <p:cNvSpPr/>
          <p:nvPr/>
        </p:nvSpPr>
        <p:spPr>
          <a:xfrm>
            <a:off x="11375136" y="3328416"/>
            <a:ext cx="109728" cy="109728"/>
          </a:xfrm>
          <a:prstGeom prst="ellipse">
            <a:avLst/>
          </a:prstGeom>
          <a:solidFill>
            <a:srgbClr val="5C8DF6"/>
          </a:solidFill>
          <a:ln/>
        </p:spPr>
      </p:sp>
      <p:sp>
        <p:nvSpPr>
          <p:cNvPr id="20" name="Shape 18"/>
          <p:cNvSpPr/>
          <p:nvPr/>
        </p:nvSpPr>
        <p:spPr>
          <a:xfrm>
            <a:off x="9592056" y="3739896"/>
            <a:ext cx="109728" cy="109728"/>
          </a:xfrm>
          <a:prstGeom prst="ellipse">
            <a:avLst/>
          </a:prstGeom>
          <a:solidFill>
            <a:srgbClr val="2FD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643616" y="4151376"/>
            <a:ext cx="109728" cy="109728"/>
          </a:xfrm>
          <a:prstGeom prst="ellipse">
            <a:avLst/>
          </a:prstGeom>
          <a:solidFill>
            <a:srgbClr val="5C8DF6"/>
          </a:solidFill>
          <a:ln/>
        </p:spPr>
      </p:sp>
      <p:sp>
        <p:nvSpPr>
          <p:cNvPr id="22" name="Shape 20"/>
          <p:cNvSpPr/>
          <p:nvPr/>
        </p:nvSpPr>
        <p:spPr>
          <a:xfrm>
            <a:off x="11100816" y="4837176"/>
            <a:ext cx="109728" cy="109728"/>
          </a:xfrm>
          <a:prstGeom prst="ellipse">
            <a:avLst/>
          </a:prstGeom>
          <a:solidFill>
            <a:srgbClr val="5C8DF6"/>
          </a:solidFill>
          <a:ln/>
        </p:spPr>
      </p:sp>
      <p:sp>
        <p:nvSpPr>
          <p:cNvPr id="23" name="Shape 21"/>
          <p:cNvSpPr/>
          <p:nvPr/>
        </p:nvSpPr>
        <p:spPr>
          <a:xfrm>
            <a:off x="9912096" y="5020056"/>
            <a:ext cx="109728" cy="109728"/>
          </a:xfrm>
          <a:prstGeom prst="ellipse">
            <a:avLst/>
          </a:prstGeom>
          <a:solidFill>
            <a:srgbClr val="2FD8E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0292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23CSE301 MACHINE LEARNING CAPSTONE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1874520"/>
            <a:ext cx="8503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5F7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 Accidents — Accident Distance Regression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5F7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Severity Classification</a:t>
            </a:r>
            <a:endParaRPr lang="en-US" sz="42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370332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Evaluation — An end-to-end empirical study of spatio-temporal, environmental and roadway-infrastructure factors influencing accident impact.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02920" y="4617720"/>
            <a:ext cx="7406640" cy="1600200"/>
          </a:xfrm>
          <a:prstGeom prst="roundRect">
            <a:avLst>
              <a:gd name="adj" fmla="val 5143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4800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AMRITA VISHWA VIDYAPEETHAM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5166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Vibin Ragav 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5468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CB.SC.U4CSE24556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3200400" y="5166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 Raam P J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200400" y="5468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CB.SC.U4CSE24548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623560" y="5166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Nitin Pranav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623560" y="5468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CB.SC.U4CSES24539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77240" y="58704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23CSE301 Machine Learning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Motivation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957255" y="3291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18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7619695" y="64739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23CSE301 · US ACCIDENTS ML CAPSTONE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3444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supervised-learning tasks are defined on the same US Accidents feature space — one continuous, one multiclass — to study what pre-incident information can (and cannot) tell us about an accident's outcome.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2240280"/>
            <a:ext cx="5806440" cy="3886200"/>
          </a:xfrm>
          <a:prstGeom prst="roundRect">
            <a:avLst>
              <a:gd name="adj" fmla="val 2118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1460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16213B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57784" y="251460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Accident 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(42,768 records)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64208" y="3090672"/>
            <a:ext cx="146304" cy="204826"/>
          </a:xfrm>
          <a:prstGeom prst="downArrow">
            <a:avLst/>
          </a:prstGeom>
          <a:solidFill>
            <a:srgbClr val="5E698C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3310128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16213B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7784" y="3310128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Preprocessing Pipeline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24712" y="3813048"/>
            <a:ext cx="0" cy="256032"/>
          </a:xfrm>
          <a:prstGeom prst="line">
            <a:avLst/>
          </a:prstGeom>
          <a:noFill/>
          <a:ln w="12700">
            <a:solidFill>
              <a:srgbClr val="5E69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31720" y="3813048"/>
            <a:ext cx="0" cy="256032"/>
          </a:xfrm>
          <a:prstGeom prst="line">
            <a:avLst/>
          </a:prstGeom>
          <a:noFill/>
          <a:ln w="12700">
            <a:solidFill>
              <a:srgbClr val="5E69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4712" y="4069080"/>
            <a:ext cx="1207008" cy="0"/>
          </a:xfrm>
          <a:prstGeom prst="line">
            <a:avLst/>
          </a:prstGeom>
          <a:noFill/>
          <a:ln w="12700">
            <a:solidFill>
              <a:srgbClr val="5E69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4069080"/>
            <a:ext cx="146304" cy="204826"/>
          </a:xfrm>
          <a:prstGeom prst="downArrow">
            <a:avLst/>
          </a:prstGeom>
          <a:solidFill>
            <a:srgbClr val="5E698C"/>
          </a:solidFill>
          <a:ln/>
        </p:spPr>
      </p:sp>
      <p:sp>
        <p:nvSpPr>
          <p:cNvPr id="17" name="Shape 15"/>
          <p:cNvSpPr/>
          <p:nvPr/>
        </p:nvSpPr>
        <p:spPr>
          <a:xfrm>
            <a:off x="2258568" y="4069080"/>
            <a:ext cx="146304" cy="204826"/>
          </a:xfrm>
          <a:prstGeom prst="downArrow">
            <a:avLst/>
          </a:prstGeom>
          <a:solidFill>
            <a:srgbClr val="5E698C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4315968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1A2A3F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" y="4315968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Distance(mi)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40280" y="4315968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27203F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295144" y="4315968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9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9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525780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tasks study temporal, geographic, environmental and roadway-infrastructure factors associated with accident impact.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89320" y="1234440"/>
            <a:ext cx="5715000" cy="2331720"/>
          </a:xfrm>
          <a:prstGeom prst="roundRect">
            <a:avLst>
              <a:gd name="adj" fmla="val 3529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45352" y="141732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REGRESSION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245352" y="1737360"/>
            <a:ext cx="5202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physical road-impact distance of an accident using strictly pre-incident environmental, temporal and spatial attributes.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245352" y="2377440"/>
            <a:ext cx="520293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Informs expected traffic disruption extent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congestion / lane-closure planning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89320" y="3749040"/>
            <a:ext cx="5715000" cy="2468880"/>
          </a:xfrm>
          <a:prstGeom prst="roundRect">
            <a:avLst>
              <a:gd name="adj" fmla="val 3333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45352" y="393192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CLASSIFICATION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245352" y="4251960"/>
            <a:ext cx="5202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discrete severity tier (1–4) of a traffic incident from contextual predictors available at report time.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245352" y="4892040"/>
            <a:ext cx="520293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Prioritises emergency-response dispatch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severity-aware transportation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 &amp; Statistical Properties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957255" y="3291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18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7619695" y="64739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23CSE301 · US ACCIDENTS ML CAPSTONE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2542032" cy="1234440"/>
          </a:xfrm>
          <a:prstGeom prst="roundRect">
            <a:avLst>
              <a:gd name="adj" fmla="val 6667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147218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FD8E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783080"/>
            <a:ext cx="2450592" cy="457200"/>
          </a:xfrm>
          <a:prstGeom prst="rect">
            <a:avLst/>
          </a:prstGeom>
          <a:noFill/>
          <a:ln/>
        </p:spPr>
        <p:txBody>
          <a:bodyPr wrap="square" lIns="0" tIns="2286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42,768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76272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50" kern="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RECORDS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9544" y="1325880"/>
            <a:ext cx="2542032" cy="1234440"/>
          </a:xfrm>
          <a:prstGeom prst="roundRect">
            <a:avLst>
              <a:gd name="adj" fmla="val 6667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74136" y="147218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5C8D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55264" y="1783080"/>
            <a:ext cx="2450592" cy="457200"/>
          </a:xfrm>
          <a:prstGeom prst="rect">
            <a:avLst/>
          </a:prstGeom>
          <a:noFill/>
          <a:ln/>
        </p:spPr>
        <p:txBody>
          <a:bodyPr wrap="square" lIns="0" tIns="2286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3255264" y="2176272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50" kern="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COLUMNS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16168" y="1325880"/>
            <a:ext cx="2542032" cy="1234440"/>
          </a:xfrm>
          <a:prstGeom prst="roundRect">
            <a:avLst>
              <a:gd name="adj" fmla="val 6667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147218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9B87F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61888" y="1783080"/>
            <a:ext cx="2450592" cy="457200"/>
          </a:xfrm>
          <a:prstGeom prst="rect">
            <a:avLst/>
          </a:prstGeom>
          <a:noFill/>
          <a:ln/>
        </p:spPr>
        <p:txBody>
          <a:bodyPr wrap="square" lIns="0" tIns="2286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5961888" y="2176272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50" kern="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STATES COVERED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622792" y="1325880"/>
            <a:ext cx="2542032" cy="1234440"/>
          </a:xfrm>
          <a:prstGeom prst="roundRect">
            <a:avLst>
              <a:gd name="adj" fmla="val 6667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87384" y="147218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3ED9A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68512" y="1783080"/>
            <a:ext cx="2450592" cy="457200"/>
          </a:xfrm>
          <a:prstGeom prst="rect">
            <a:avLst/>
          </a:prstGeom>
          <a:noFill/>
          <a:ln/>
        </p:spPr>
        <p:txBody>
          <a:bodyPr wrap="square" lIns="0" tIns="2286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500" dirty="0"/>
          </a:p>
        </p:txBody>
      </p:sp>
      <p:sp>
        <p:nvSpPr>
          <p:cNvPr id="21" name="Text 19"/>
          <p:cNvSpPr txBox="1"/>
          <p:nvPr/>
        </p:nvSpPr>
        <p:spPr>
          <a:xfrm>
            <a:off x="8668512" y="2176272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50" kern="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TARGETS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26974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US_Accidents_Dec20_Updated.csv — nationwide traffic-accident data (2016–2020) capturing temporal, geographic, weather and road-infrastructure attributes for each incident.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3291840"/>
            <a:ext cx="2542032" cy="205740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" y="3493008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FD8E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05840" y="3456432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" y="3886200"/>
            <a:ext cx="2103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Start_Time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Start_Hour*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Day_of_Week*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Month*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9544" y="3291840"/>
            <a:ext cx="2542032" cy="205740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10712" y="3493008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5C8DF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712464" y="3456432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3429000" y="3886200"/>
            <a:ext cx="2103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Start_Lat / Lng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City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Zipcode, Airport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16168" y="3291840"/>
            <a:ext cx="2542032" cy="205740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17336" y="3493008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5B84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19088" y="3456432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135624" y="3886200"/>
            <a:ext cx="2103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Temperature(F)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Humidity(%)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Visibility, Wind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622792" y="3291840"/>
            <a:ext cx="2542032" cy="205740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23960" y="3493008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9B87F5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125712" y="3456432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842248" y="3886200"/>
            <a:ext cx="2103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Traffic_Signal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Crossing, Junction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Roundabout, Stop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2920" y="5486400"/>
            <a:ext cx="10744200" cy="777240"/>
          </a:xfrm>
          <a:prstGeom prst="roundRect">
            <a:avLst>
              <a:gd name="adj" fmla="val 10588"/>
            </a:avLst>
          </a:prstGeom>
          <a:solidFill>
            <a:srgbClr val="142A24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58952" y="54864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Distance(mi) — regression  •  Severity (1–4) — classification.  *Engineered temporal features (Section 03).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957255" y="3291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18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7619695" y="64739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23CSE301 · US ACCIDENTS ML CAPSTONE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074920" cy="4343400"/>
          </a:xfrm>
          <a:prstGeom prst="roundRect">
            <a:avLst>
              <a:gd name="adj" fmla="val 1895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141732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Distance(mi) is strongly right-skewed</a:t>
            </a:r>
            <a:endParaRPr lang="en-US" sz="12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04088" y="1783080"/>
          <a:ext cx="4672584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758952" y="4251960"/>
            <a:ext cx="456285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of accidents affect ≤ 0.5 miles of road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 outliers extend to ≈148 miles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Motivates log-scale inspection &amp; robust metrics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97880" y="1234440"/>
            <a:ext cx="5790895" cy="4343400"/>
          </a:xfrm>
          <a:prstGeom prst="roundRect">
            <a:avLst>
              <a:gd name="adj" fmla="val 1895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53912" y="1417320"/>
            <a:ext cx="5333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is heavily class-imbalanced</a:t>
            </a:r>
            <a:endParaRPr lang="en-US" sz="125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6099048" y="1783080"/>
          <a:ext cx="5388559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6153912" y="4251960"/>
            <a:ext cx="5278831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2 alone accounts for 73.1% of records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1 is rare: only 433 of 42,768 records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on the next slide — this drives evaluation design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Imbalance: Why Accuracy Alone Fails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957255" y="3291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18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7619695" y="64739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23CSE301 · US ACCIDENTS ML CAPSTONE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394960" cy="4434840"/>
          </a:xfrm>
          <a:prstGeom prst="roundRect">
            <a:avLst>
              <a:gd name="adj" fmla="val 1856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14173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class distribution (n = 42,768)</a:t>
            </a:r>
            <a:endParaRPr lang="en-US" sz="12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04088" y="1828800"/>
          <a:ext cx="4992624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758952" y="4251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1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2331720" y="4251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433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3794760" y="4251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1.0%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758952" y="4553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2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2331720" y="4553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31,273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3794760" y="4553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73.1%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758952" y="48554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3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2331720" y="48554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9,304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3794760" y="48554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21.8%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758952" y="51572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4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2331720" y="51572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1,758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3794760" y="5157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4.1%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217920" y="1234440"/>
            <a:ext cx="5470855" cy="1965960"/>
          </a:xfrm>
          <a:prstGeom prst="roundRect">
            <a:avLst>
              <a:gd name="adj" fmla="val 4186"/>
            </a:avLst>
          </a:prstGeom>
          <a:solidFill>
            <a:srgbClr val="2A1520"/>
          </a:solidFill>
          <a:ln w="9525">
            <a:solidFill>
              <a:srgbClr val="4A213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73952" y="1417320"/>
            <a:ext cx="5013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1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NAIVE-CLASSIFIER TRAP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6473952" y="1755648"/>
            <a:ext cx="4958791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predicts </a:t>
            </a:r>
            <a:pPr indent="0" marL="0">
              <a:buNone/>
            </a:pPr>
            <a:r>
              <a:rPr lang="en-US" sz="150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“Severity 2” for every record</a:t>
            </a:r>
            <a:pPr indent="0" marL="0">
              <a:buNone/>
            </a:pPr>
            <a:r>
              <a:rPr lang="en-US" sz="150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achieves ≈</a:t>
            </a:r>
            <a:pPr indent="0" marL="0">
              <a:buNone/>
            </a:pPr>
            <a:r>
              <a:rPr lang="en-US" sz="1500" b="1" dirty="0">
                <a:solidFill>
                  <a:srgbClr val="F1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73.1% accuracy</a:t>
            </a:r>
            <a:pPr indent="0" marL="0">
              <a:buNone/>
            </a:pPr>
            <a:r>
              <a:rPr lang="en-US" sz="150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with zero ability to discriminate minority classes.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217920" y="3383280"/>
            <a:ext cx="5470855" cy="2286000"/>
          </a:xfrm>
          <a:prstGeom prst="roundRect">
            <a:avLst>
              <a:gd name="adj" fmla="val 3600"/>
            </a:avLst>
          </a:prstGeom>
          <a:solidFill>
            <a:srgbClr val="0F2A22"/>
          </a:solidFill>
          <a:ln w="9525">
            <a:solidFill>
              <a:srgbClr val="1C453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73952" y="3566160"/>
            <a:ext cx="5013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3E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EVALUATE WITH: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6473952" y="3931920"/>
            <a:ext cx="4958791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F1-score — balances precision &amp; recall per class, weighted by support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— expose exactly which severity tiers are confused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train/test split — preserves class ratios in both partitions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PIPELINE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957255" y="3291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18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7619695" y="64739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23CSE301 · US ACCIDENTS ML CAPSTONE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1254214" cy="868680"/>
          </a:xfrm>
          <a:prstGeom prst="roundRect">
            <a:avLst>
              <a:gd name="adj" fmla="val 8421"/>
            </a:avLst>
          </a:prstGeom>
          <a:solidFill>
            <a:srgbClr val="16324A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7784" y="1463040"/>
            <a:ext cx="11444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(42,768)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61706" y="1824228"/>
            <a:ext cx="204826" cy="146304"/>
          </a:xfrm>
          <a:prstGeom prst="rightArrow">
            <a:avLst/>
          </a:prstGeom>
          <a:solidFill>
            <a:srgbClr val="5E698C"/>
          </a:solidFill>
          <a:ln/>
        </p:spPr>
      </p:sp>
      <p:sp>
        <p:nvSpPr>
          <p:cNvPr id="9" name="Shape 7"/>
          <p:cNvSpPr/>
          <p:nvPr/>
        </p:nvSpPr>
        <p:spPr>
          <a:xfrm>
            <a:off x="1921726" y="1463040"/>
            <a:ext cx="1254214" cy="868680"/>
          </a:xfrm>
          <a:prstGeom prst="roundRect">
            <a:avLst>
              <a:gd name="adj" fmla="val 8421"/>
            </a:avLst>
          </a:prstGeom>
          <a:solidFill>
            <a:srgbClr val="16213B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76590" y="1463040"/>
            <a:ext cx="11444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Invalid-record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80512" y="1824228"/>
            <a:ext cx="204826" cy="146304"/>
          </a:xfrm>
          <a:prstGeom prst="rightArrow">
            <a:avLst/>
          </a:prstGeom>
          <a:solidFill>
            <a:srgbClr val="5E698C"/>
          </a:solidFill>
          <a:ln/>
        </p:spPr>
      </p:sp>
      <p:sp>
        <p:nvSpPr>
          <p:cNvPr id="12" name="Shape 10"/>
          <p:cNvSpPr/>
          <p:nvPr/>
        </p:nvSpPr>
        <p:spPr>
          <a:xfrm>
            <a:off x="3340532" y="1463040"/>
            <a:ext cx="1254214" cy="868680"/>
          </a:xfrm>
          <a:prstGeom prst="roundRect">
            <a:avLst>
              <a:gd name="adj" fmla="val 8421"/>
            </a:avLst>
          </a:prstGeom>
          <a:solidFill>
            <a:srgbClr val="16213B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95396" y="1463040"/>
            <a:ext cx="11444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99318" y="1824228"/>
            <a:ext cx="204826" cy="146304"/>
          </a:xfrm>
          <a:prstGeom prst="rightArrow">
            <a:avLst/>
          </a:prstGeom>
          <a:solidFill>
            <a:srgbClr val="5E698C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9338" y="1463040"/>
            <a:ext cx="1254214" cy="868680"/>
          </a:xfrm>
          <a:prstGeom prst="roundRect">
            <a:avLst>
              <a:gd name="adj" fmla="val 8421"/>
            </a:avLst>
          </a:prstGeom>
          <a:solidFill>
            <a:srgbClr val="16213B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14202" y="1463040"/>
            <a:ext cx="11444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18124" y="1824228"/>
            <a:ext cx="204826" cy="146304"/>
          </a:xfrm>
          <a:prstGeom prst="rightArrow">
            <a:avLst/>
          </a:prstGeom>
          <a:solidFill>
            <a:srgbClr val="5E698C"/>
          </a:solidFill>
          <a:ln/>
        </p:spPr>
      </p:sp>
      <p:sp>
        <p:nvSpPr>
          <p:cNvPr id="18" name="Shape 16"/>
          <p:cNvSpPr/>
          <p:nvPr/>
        </p:nvSpPr>
        <p:spPr>
          <a:xfrm>
            <a:off x="6178144" y="1463040"/>
            <a:ext cx="1254214" cy="868680"/>
          </a:xfrm>
          <a:prstGeom prst="roundRect">
            <a:avLst>
              <a:gd name="adj" fmla="val 8421"/>
            </a:avLst>
          </a:prstGeom>
          <a:solidFill>
            <a:srgbClr val="16213B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33008" y="1463040"/>
            <a:ext cx="11444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High-cardinality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36930" y="1824228"/>
            <a:ext cx="204826" cy="146304"/>
          </a:xfrm>
          <a:prstGeom prst="rightArrow">
            <a:avLst/>
          </a:prstGeom>
          <a:solidFill>
            <a:srgbClr val="5E698C"/>
          </a:solidFill>
          <a:ln/>
        </p:spPr>
      </p:sp>
      <p:sp>
        <p:nvSpPr>
          <p:cNvPr id="21" name="Shape 19"/>
          <p:cNvSpPr/>
          <p:nvPr/>
        </p:nvSpPr>
        <p:spPr>
          <a:xfrm>
            <a:off x="7596950" y="1463040"/>
            <a:ext cx="1254214" cy="868680"/>
          </a:xfrm>
          <a:prstGeom prst="roundRect">
            <a:avLst>
              <a:gd name="adj" fmla="val 8421"/>
            </a:avLst>
          </a:prstGeom>
          <a:solidFill>
            <a:srgbClr val="16213B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51814" y="1463040"/>
            <a:ext cx="11444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855735" y="1824228"/>
            <a:ext cx="204826" cy="146304"/>
          </a:xfrm>
          <a:prstGeom prst="rightArrow">
            <a:avLst/>
          </a:prstGeom>
          <a:solidFill>
            <a:srgbClr val="5E698C"/>
          </a:solidFill>
          <a:ln/>
        </p:spPr>
      </p:sp>
      <p:sp>
        <p:nvSpPr>
          <p:cNvPr id="24" name="Shape 22"/>
          <p:cNvSpPr/>
          <p:nvPr/>
        </p:nvSpPr>
        <p:spPr>
          <a:xfrm>
            <a:off x="9015755" y="1463040"/>
            <a:ext cx="1254214" cy="868680"/>
          </a:xfrm>
          <a:prstGeom prst="roundRect">
            <a:avLst>
              <a:gd name="adj" fmla="val 8421"/>
            </a:avLst>
          </a:prstGeom>
          <a:solidFill>
            <a:srgbClr val="16213B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070619" y="1463040"/>
            <a:ext cx="11444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274541" y="1824228"/>
            <a:ext cx="204826" cy="146304"/>
          </a:xfrm>
          <a:prstGeom prst="rightArrow">
            <a:avLst/>
          </a:prstGeom>
          <a:solidFill>
            <a:srgbClr val="5E698C"/>
          </a:solidFill>
          <a:ln/>
        </p:spPr>
      </p:sp>
      <p:sp>
        <p:nvSpPr>
          <p:cNvPr id="27" name="Shape 25"/>
          <p:cNvSpPr/>
          <p:nvPr/>
        </p:nvSpPr>
        <p:spPr>
          <a:xfrm>
            <a:off x="10434561" y="1463040"/>
            <a:ext cx="1254214" cy="868680"/>
          </a:xfrm>
          <a:prstGeom prst="roundRect">
            <a:avLst>
              <a:gd name="adj" fmla="val 8421"/>
            </a:avLst>
          </a:prstGeom>
          <a:solidFill>
            <a:srgbClr val="16324A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89425" y="1463040"/>
            <a:ext cx="11444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Model-ready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2788920"/>
            <a:ext cx="2673020" cy="1600200"/>
          </a:xfrm>
          <a:prstGeom prst="roundRect">
            <a:avLst>
              <a:gd name="adj" fmla="val 5143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2971800"/>
            <a:ext cx="23072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D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3520440"/>
            <a:ext cx="23072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 found in the raw 42,768-row dataset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40532" y="2788920"/>
            <a:ext cx="2673020" cy="1600200"/>
          </a:xfrm>
          <a:prstGeom prst="roundRect">
            <a:avLst>
              <a:gd name="adj" fmla="val 5143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523412" y="2971800"/>
            <a:ext cx="23072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D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3523412" y="3520440"/>
            <a:ext cx="23072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record removed — null Distance(mi) target &amp; near-empty row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78144" y="2788920"/>
            <a:ext cx="2673020" cy="1600200"/>
          </a:xfrm>
          <a:prstGeom prst="roundRect">
            <a:avLst>
              <a:gd name="adj" fmla="val 5143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61024" y="2971800"/>
            <a:ext cx="23072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D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6361024" y="3520440"/>
            <a:ext cx="23072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strategy for numerical missing values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015755" y="2788920"/>
            <a:ext cx="2673020" cy="1600200"/>
          </a:xfrm>
          <a:prstGeom prst="roundRect">
            <a:avLst>
              <a:gd name="adj" fmla="val 5143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198635" y="2971800"/>
            <a:ext cx="23072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D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Most-Frequent</a:t>
            </a:r>
            <a:endParaRPr lang="en-US" sz="2200" dirty="0"/>
          </a:p>
        </p:txBody>
      </p:sp>
      <p:sp>
        <p:nvSpPr>
          <p:cNvPr id="40" name="Text 38"/>
          <p:cNvSpPr txBox="1"/>
          <p:nvPr/>
        </p:nvSpPr>
        <p:spPr>
          <a:xfrm>
            <a:off x="9198635" y="3520440"/>
            <a:ext cx="23072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strategy for categorical &amp; boolean missing values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" y="4709160"/>
            <a:ext cx="11185855" cy="1417320"/>
          </a:xfrm>
          <a:prstGeom prst="roundRect">
            <a:avLst>
              <a:gd name="adj" fmla="val 5806"/>
            </a:avLst>
          </a:prstGeom>
          <a:solidFill>
            <a:srgbClr val="16213B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58952" y="4864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missing-value columns (raw data audit)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758952" y="52303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758952" y="5486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65.2%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2816352" y="52303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Precipitation(in)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2816352" y="5486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44.9%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4873752" y="52303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Wind_Chill(F)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4873752" y="5486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41.1%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6931152" y="52303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Wind_Speed(mph)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6931152" y="5486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10.6%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8988552" y="52303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End_Lng / End_Lat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8988552" y="5486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9.8%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PIPELINE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Leakage Prevention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957255" y="3291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18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7619695" y="64739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23CSE301 · US ACCIDENTS ML CAPSTONE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6492240" cy="4572000"/>
          </a:xfrm>
          <a:prstGeom prst="roundRect">
            <a:avLst>
              <a:gd name="adj" fmla="val 1800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1389888"/>
            <a:ext cx="5980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from the feature matrix X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17556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1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Distance(mi), Severity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17556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215798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1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End_Lat, End_Lng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215798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the end of the impact zone — Distance(mi) is derived from start/end coordinates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" y="25603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1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End_Time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25603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Post-event: congestion-resolution time unknown at incident onset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" y="296265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1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154680" y="296265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 record identifier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" y="336499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1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154680" y="33649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narrative written after incident resolution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" y="376732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1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Street, City, Zipcode, Airport_Code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154680" y="37673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cardinality (&gt;1,000–17,000+ levels) — overfitting risk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" y="416966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1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Country, Turning_Loop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154680" y="416966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variance (constant 'US' / False)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" y="45720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1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154680" y="4572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65.1% missing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0" y="1234440"/>
            <a:ext cx="4373575" cy="1417320"/>
          </a:xfrm>
          <a:prstGeom prst="roundRect">
            <a:avLst>
              <a:gd name="adj" fmla="val 5806"/>
            </a:avLst>
          </a:prstGeom>
          <a:solidFill>
            <a:srgbClr val="2A1520"/>
          </a:solidFill>
          <a:ln w="9525">
            <a:solidFill>
              <a:srgbClr val="4A213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43800" y="1371600"/>
            <a:ext cx="3916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1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543800" y="1645920"/>
            <a:ext cx="3916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/ post-event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→ Model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315200" y="2834640"/>
            <a:ext cx="4373575" cy="1417320"/>
          </a:xfrm>
          <a:prstGeom prst="roundRect">
            <a:avLst>
              <a:gd name="adj" fmla="val 5806"/>
            </a:avLst>
          </a:prstGeom>
          <a:solidFill>
            <a:srgbClr val="0F2A22"/>
          </a:solidFill>
          <a:ln w="9525">
            <a:solidFill>
              <a:srgbClr val="1C453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43800" y="2971800"/>
            <a:ext cx="3916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543800" y="3246120"/>
            <a:ext cx="3916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information available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prediction time → Model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15200" y="4434840"/>
            <a:ext cx="4373575" cy="1371600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43800" y="4590288"/>
            <a:ext cx="3916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543800" y="4864608"/>
            <a:ext cx="3916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 is performed BEFORE fitting any transformer.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PIPELINE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957255" y="3291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18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7619695" y="64739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23CSE301 · US ACCIDENTS ML CAPSTONE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4480560" cy="2331720"/>
          </a:xfrm>
          <a:prstGeom prst="roundRect">
            <a:avLst>
              <a:gd name="adj" fmla="val 3529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81328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16213B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2104" y="1481328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Start_Time (raw timestamp)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70048" y="2011680"/>
            <a:ext cx="146304" cy="204826"/>
          </a:xfrm>
          <a:prstGeom prst="downArrow">
            <a:avLst/>
          </a:prstGeom>
          <a:solidFill>
            <a:srgbClr val="5E698C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212848"/>
            <a:ext cx="1219200" cy="384048"/>
          </a:xfrm>
          <a:prstGeom prst="roundRect">
            <a:avLst>
              <a:gd name="adj" fmla="val 19048"/>
            </a:avLst>
          </a:prstGeom>
          <a:solidFill>
            <a:srgbClr val="16324A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" y="2212848"/>
            <a:ext cx="110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Start_Hour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133600" y="2212848"/>
            <a:ext cx="1219200" cy="384048"/>
          </a:xfrm>
          <a:prstGeom prst="roundRect">
            <a:avLst>
              <a:gd name="adj" fmla="val 19048"/>
            </a:avLst>
          </a:prstGeom>
          <a:solidFill>
            <a:srgbClr val="16324A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88464" y="2212848"/>
            <a:ext cx="110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Day_of_Week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89960" y="2212848"/>
            <a:ext cx="1219200" cy="384048"/>
          </a:xfrm>
          <a:prstGeom prst="roundRect">
            <a:avLst>
              <a:gd name="adj" fmla="val 19048"/>
            </a:avLst>
          </a:prstGeom>
          <a:solidFill>
            <a:srgbClr val="16324A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44824" y="2212848"/>
            <a:ext cx="110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788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0–23 hr · 0–6 (Mon–Sun) · 1–12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37490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Start_Hour:  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3749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diurnal traffic peaks — 7–9 AM &amp; 4–6 PM rush hours vs. low-traffic night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43159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Day_of_Week:  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874520" y="43159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Differentiates weekday commuter traffic from weekend leisure patterns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488289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Month:  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874520" y="488289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seasonal effects — winter snow/ice vs. summer travel volume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55321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E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validation: Start_Hour and Day_of_Week rank among the top-6 most important features in the Random Forest importance analysis (Slide 13).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03520" y="1234440"/>
            <a:ext cx="6385255" cy="1783080"/>
          </a:xfrm>
          <a:prstGeom prst="roundRect">
            <a:avLst>
              <a:gd name="adj" fmla="val 4615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04688" y="139903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FD8E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779008" y="1362456"/>
            <a:ext cx="5699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(11)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522976" y="1737360"/>
            <a:ext cx="5946343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Start_Lat, Start_Lng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Temperature(F), Humidity(%)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Pressure(in), Visibility(mi)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Wind_Speed(mph)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Start_Hour, Day_of_Week, Month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03520" y="3200400"/>
            <a:ext cx="6385255" cy="1417320"/>
          </a:xfrm>
          <a:prstGeom prst="roundRect">
            <a:avLst>
              <a:gd name="adj" fmla="val 5806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04688" y="336499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F5B84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779008" y="3328416"/>
            <a:ext cx="5699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(5)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522976" y="3703320"/>
            <a:ext cx="5946343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Side, Timezone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Sunrise_Sunset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Weather_Condition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(top-20)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03520" y="4800600"/>
            <a:ext cx="6385255" cy="1188720"/>
          </a:xfrm>
          <a:prstGeom prst="roundRect">
            <a:avLst>
              <a:gd name="adj" fmla="val 6923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04688" y="496519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9B87F5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779008" y="4928616"/>
            <a:ext cx="5699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(≈13)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522976" y="5303520"/>
            <a:ext cx="5946343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Traffic_Signal, Crossing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Junction, Stop, Roundabout, …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PIPELINE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Pipeline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957255" y="3291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18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7619695" y="64739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23CSE301 · US ACCIDENTS ML CAPSTONE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6126480" cy="3977640"/>
          </a:xfrm>
          <a:prstGeom prst="roundRect">
            <a:avLst>
              <a:gd name="adj" fmla="val 2069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63240" y="1417320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16213B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18104" y="1417320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(27 cols)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572768" y="1874520"/>
            <a:ext cx="146304" cy="204826"/>
          </a:xfrm>
          <a:prstGeom prst="downArrow">
            <a:avLst/>
          </a:prstGeom>
          <a:solidFill>
            <a:srgbClr val="5E698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14984" y="201168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572768" y="2377440"/>
            <a:ext cx="146304" cy="204826"/>
          </a:xfrm>
          <a:prstGeom prst="downArrow">
            <a:avLst/>
          </a:prstGeom>
          <a:solidFill>
            <a:srgbClr val="5E698C"/>
          </a:solidFill>
          <a:ln/>
        </p:spPr>
      </p:sp>
      <p:sp>
        <p:nvSpPr>
          <p:cNvPr id="12" name="Shape 10"/>
          <p:cNvSpPr/>
          <p:nvPr/>
        </p:nvSpPr>
        <p:spPr>
          <a:xfrm>
            <a:off x="960120" y="251460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6213B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14984" y="25146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572768" y="3035808"/>
            <a:ext cx="146304" cy="204826"/>
          </a:xfrm>
          <a:prstGeom prst="downArrow">
            <a:avLst/>
          </a:prstGeom>
          <a:solidFill>
            <a:srgbClr val="5E698C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317296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6213B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14984" y="317296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93008" y="1874520"/>
            <a:ext cx="146304" cy="204826"/>
          </a:xfrm>
          <a:prstGeom prst="downArrow">
            <a:avLst/>
          </a:prstGeom>
          <a:solidFill>
            <a:srgbClr val="5E698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935224" y="201168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93008" y="2377440"/>
            <a:ext cx="146304" cy="204826"/>
          </a:xfrm>
          <a:prstGeom prst="downArrow">
            <a:avLst/>
          </a:prstGeom>
          <a:solidFill>
            <a:srgbClr val="5E698C"/>
          </a:solidFill>
          <a:ln/>
        </p:spPr>
      </p:sp>
      <p:sp>
        <p:nvSpPr>
          <p:cNvPr id="20" name="Shape 18"/>
          <p:cNvSpPr/>
          <p:nvPr/>
        </p:nvSpPr>
        <p:spPr>
          <a:xfrm>
            <a:off x="2880360" y="251460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6213B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35224" y="25146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Most-Frequent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93008" y="3035808"/>
            <a:ext cx="146304" cy="204826"/>
          </a:xfrm>
          <a:prstGeom prst="downArrow">
            <a:avLst/>
          </a:prstGeom>
          <a:solidFill>
            <a:srgbClr val="5E698C"/>
          </a:solidFill>
          <a:ln/>
        </p:spPr>
      </p:sp>
      <p:sp>
        <p:nvSpPr>
          <p:cNvPr id="23" name="Shape 21"/>
          <p:cNvSpPr/>
          <p:nvPr/>
        </p:nvSpPr>
        <p:spPr>
          <a:xfrm>
            <a:off x="2880360" y="317296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6213B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935224" y="317296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13248" y="1874520"/>
            <a:ext cx="146304" cy="204826"/>
          </a:xfrm>
          <a:prstGeom prst="downArrow">
            <a:avLst/>
          </a:prstGeom>
          <a:solidFill>
            <a:srgbClr val="5E698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55464" y="201168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13248" y="2377440"/>
            <a:ext cx="146304" cy="204826"/>
          </a:xfrm>
          <a:prstGeom prst="downArrow">
            <a:avLst/>
          </a:prstGeom>
          <a:solidFill>
            <a:srgbClr val="5E698C"/>
          </a:solidFill>
          <a:ln/>
        </p:spPr>
      </p:sp>
      <p:sp>
        <p:nvSpPr>
          <p:cNvPr id="28" name="Shape 26"/>
          <p:cNvSpPr/>
          <p:nvPr/>
        </p:nvSpPr>
        <p:spPr>
          <a:xfrm>
            <a:off x="4800600" y="251460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6213B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55464" y="25146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Most-Frequent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800600" y="3200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Pass-Through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645920" y="3703320"/>
            <a:ext cx="3840480" cy="0"/>
          </a:xfrm>
          <a:prstGeom prst="line">
            <a:avLst/>
          </a:prstGeom>
          <a:noFill/>
          <a:ln w="12700">
            <a:solidFill>
              <a:srgbClr val="5E698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72768" y="3703320"/>
            <a:ext cx="146304" cy="204826"/>
          </a:xfrm>
          <a:prstGeom prst="downArrow">
            <a:avLst/>
          </a:prstGeom>
          <a:solidFill>
            <a:srgbClr val="5E698C"/>
          </a:solidFill>
          <a:ln/>
        </p:spPr>
      </p:sp>
      <p:sp>
        <p:nvSpPr>
          <p:cNvPr id="33" name="Shape 31"/>
          <p:cNvSpPr/>
          <p:nvPr/>
        </p:nvSpPr>
        <p:spPr>
          <a:xfrm>
            <a:off x="3493008" y="3703320"/>
            <a:ext cx="146304" cy="204826"/>
          </a:xfrm>
          <a:prstGeom prst="downArrow">
            <a:avLst/>
          </a:prstGeom>
          <a:solidFill>
            <a:srgbClr val="5E698C"/>
          </a:solidFill>
          <a:ln/>
        </p:spPr>
      </p:sp>
      <p:sp>
        <p:nvSpPr>
          <p:cNvPr id="34" name="Shape 32"/>
          <p:cNvSpPr/>
          <p:nvPr/>
        </p:nvSpPr>
        <p:spPr>
          <a:xfrm>
            <a:off x="5413248" y="3703320"/>
            <a:ext cx="146304" cy="204826"/>
          </a:xfrm>
          <a:prstGeom prst="downArrow">
            <a:avLst/>
          </a:prstGeom>
          <a:solidFill>
            <a:srgbClr val="5E698C"/>
          </a:solidFill>
          <a:ln/>
        </p:spPr>
      </p:sp>
      <p:sp>
        <p:nvSpPr>
          <p:cNvPr id="35" name="Shape 33"/>
          <p:cNvSpPr/>
          <p:nvPr/>
        </p:nvSpPr>
        <p:spPr>
          <a:xfrm>
            <a:off x="2514600" y="393192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16324A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569464" y="393192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Feature Matrix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" y="448056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E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StandardScaler, SimpleImputer &amp; OneHotEncoder(handle_unknown='ignore') are fit ONLY on X_train, then applied to X_test.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949440" y="1234440"/>
            <a:ext cx="4739335" cy="841248"/>
          </a:xfrm>
          <a:prstGeom prst="roundRect">
            <a:avLst>
              <a:gd name="adj" fmla="val 9783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168896" y="1307592"/>
            <a:ext cx="43004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D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 / 20%</a:t>
            </a:r>
            <a:endParaRPr lang="en-US" sz="2100" dirty="0"/>
          </a:p>
        </p:txBody>
      </p:sp>
      <p:sp>
        <p:nvSpPr>
          <p:cNvPr id="40" name="Text 38"/>
          <p:cNvSpPr txBox="1"/>
          <p:nvPr/>
        </p:nvSpPr>
        <p:spPr>
          <a:xfrm>
            <a:off x="7168896" y="1764792"/>
            <a:ext cx="43004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TRAIN / TEST SPLIT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949440" y="2194560"/>
            <a:ext cx="4739335" cy="841248"/>
          </a:xfrm>
          <a:prstGeom prst="roundRect">
            <a:avLst>
              <a:gd name="adj" fmla="val 9783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168896" y="2267712"/>
            <a:ext cx="43004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D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34,214</a:t>
            </a:r>
            <a:endParaRPr lang="en-US" sz="2100" dirty="0"/>
          </a:p>
        </p:txBody>
      </p:sp>
      <p:sp>
        <p:nvSpPr>
          <p:cNvPr id="43" name="Text 41"/>
          <p:cNvSpPr txBox="1"/>
          <p:nvPr/>
        </p:nvSpPr>
        <p:spPr>
          <a:xfrm>
            <a:off x="7168896" y="2724912"/>
            <a:ext cx="43004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TRAINING SAMPLES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949440" y="3154680"/>
            <a:ext cx="4739335" cy="841248"/>
          </a:xfrm>
          <a:prstGeom prst="roundRect">
            <a:avLst>
              <a:gd name="adj" fmla="val 9783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168896" y="3227832"/>
            <a:ext cx="43004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D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8,554</a:t>
            </a:r>
            <a:endParaRPr lang="en-US" sz="2100" dirty="0"/>
          </a:p>
        </p:txBody>
      </p:sp>
      <p:sp>
        <p:nvSpPr>
          <p:cNvPr id="46" name="Text 44"/>
          <p:cNvSpPr txBox="1"/>
          <p:nvPr/>
        </p:nvSpPr>
        <p:spPr>
          <a:xfrm>
            <a:off x="7168896" y="3685032"/>
            <a:ext cx="43004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SAMPLES (BOTH TRACKS)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949440" y="4114800"/>
            <a:ext cx="4739335" cy="841248"/>
          </a:xfrm>
          <a:prstGeom prst="roundRect">
            <a:avLst>
              <a:gd name="adj" fmla="val 9783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168896" y="4187952"/>
            <a:ext cx="43004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D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2100" dirty="0"/>
          </a:p>
        </p:txBody>
      </p:sp>
      <p:sp>
        <p:nvSpPr>
          <p:cNvPr id="49" name="Text 47"/>
          <p:cNvSpPr txBox="1"/>
          <p:nvPr/>
        </p:nvSpPr>
        <p:spPr>
          <a:xfrm>
            <a:off x="7168896" y="4645152"/>
            <a:ext cx="43004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PREPROCESSED FEATURE DIMENSIONS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6949440" y="5212080"/>
            <a:ext cx="4739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regression track drops 1 record with a null Distance(mi) target → 34,213 training samples (vs. 34,214 for classification).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REGRESSION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Track — 10 Algorithms Compared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957255" y="3291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7619695" y="64739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23CSE301 · US ACCIDENTS ML CAPSTONE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344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 </a:t>
            </a:r>
            <a:pPr indent="0" marL="0">
              <a:buNone/>
            </a:pPr>
            <a:r>
              <a:rPr lang="en-US" sz="1300" b="1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Distance(mi)</a:t>
            </a:r>
            <a:pPr indent="0" marL="0">
              <a:buNone/>
            </a:pPr>
            <a:r>
              <a:rPr lang="en-US" sz="13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continuous, non-negative. All 10 mandated regression algorithms are trained on the identical preprocessed 67-dimensional split.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2105497" cy="1417320"/>
          </a:xfrm>
          <a:prstGeom prst="roundRect">
            <a:avLst>
              <a:gd name="adj" fmla="val 5806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" y="20756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D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9224" y="2514600"/>
            <a:ext cx="18128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9224" y="2990088"/>
            <a:ext cx="1812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OLS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73009" y="1965960"/>
            <a:ext cx="2105497" cy="1417320"/>
          </a:xfrm>
          <a:prstGeom prst="roundRect">
            <a:avLst>
              <a:gd name="adj" fmla="val 5806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19313" y="20756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D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919313" y="2514600"/>
            <a:ext cx="18128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919313" y="2990088"/>
            <a:ext cx="1812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L2-regularised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43099" y="1965960"/>
            <a:ext cx="2105497" cy="1417320"/>
          </a:xfrm>
          <a:prstGeom prst="roundRect">
            <a:avLst>
              <a:gd name="adj" fmla="val 5806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89403" y="20756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D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189403" y="2514600"/>
            <a:ext cx="18128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189403" y="2990088"/>
            <a:ext cx="1812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L1-regularised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3188" y="1965960"/>
            <a:ext cx="2105497" cy="1417320"/>
          </a:xfrm>
          <a:prstGeom prst="roundRect">
            <a:avLst>
              <a:gd name="adj" fmla="val 5806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59492" y="20756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D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459492" y="2514600"/>
            <a:ext cx="18128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ElasticNet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459492" y="2990088"/>
            <a:ext cx="1812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+ L2 blend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583278" y="1965960"/>
            <a:ext cx="2105497" cy="1417320"/>
          </a:xfrm>
          <a:prstGeom prst="roundRect">
            <a:avLst>
              <a:gd name="adj" fmla="val 5806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729582" y="20756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D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729582" y="2514600"/>
            <a:ext cx="18128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(deg=2)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729582" y="2990088"/>
            <a:ext cx="1812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terms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547872"/>
            <a:ext cx="2105497" cy="1417320"/>
          </a:xfrm>
          <a:prstGeom prst="roundRect">
            <a:avLst>
              <a:gd name="adj" fmla="val 5806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9224" y="3657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D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" y="4096512"/>
            <a:ext cx="18128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49224" y="4572000"/>
            <a:ext cx="1812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splits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73009" y="3547872"/>
            <a:ext cx="2105497" cy="1417320"/>
          </a:xfrm>
          <a:prstGeom prst="roundRect">
            <a:avLst>
              <a:gd name="adj" fmla="val 5806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919313" y="3657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D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2919313" y="4096512"/>
            <a:ext cx="18128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2919313" y="4572000"/>
            <a:ext cx="1812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Bagged ensemble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43099" y="3547872"/>
            <a:ext cx="2105497" cy="1417320"/>
          </a:xfrm>
          <a:prstGeom prst="roundRect">
            <a:avLst>
              <a:gd name="adj" fmla="val 5806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189403" y="3657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D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5189403" y="4096512"/>
            <a:ext cx="18128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5189403" y="4572000"/>
            <a:ext cx="1812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Boosted ensemble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313188" y="3547872"/>
            <a:ext cx="2105497" cy="1417320"/>
          </a:xfrm>
          <a:prstGeom prst="roundRect">
            <a:avLst>
              <a:gd name="adj" fmla="val 5806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459492" y="3657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D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7459492" y="4096512"/>
            <a:ext cx="18128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7459492" y="4572000"/>
            <a:ext cx="1812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Margin-based, RBF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583278" y="3547872"/>
            <a:ext cx="2105497" cy="1417320"/>
          </a:xfrm>
          <a:prstGeom prst="roundRect">
            <a:avLst>
              <a:gd name="adj" fmla="val 5806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729582" y="3657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D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729582" y="4096512"/>
            <a:ext cx="18128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(k=7)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9729582" y="4572000"/>
            <a:ext cx="1812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Instance-based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502920" y="56235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with R², RMSE and MAE on an identical 20% held-out test partition (8,554 samples).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REGRESSION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Results — Model Comparison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957255" y="3291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7619695" y="64739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23CSE301 · US ACCIDENTS ML CAPSTONE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6400800" cy="4480560"/>
          </a:xfrm>
          <a:prstGeom prst="roundRect">
            <a:avLst>
              <a:gd name="adj" fmla="val 1837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138988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 by model (test set, ranked)</a:t>
            </a:r>
            <a:endParaRPr lang="en-US" sz="12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85800" y="1737360"/>
          <a:ext cx="603504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758952" y="4800600"/>
            <a:ext cx="5888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R² is low across the board — accident distance is difficult to predict from available pre-incident variables alone.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223760" y="1234440"/>
            <a:ext cx="4465015" cy="1051560"/>
          </a:xfrm>
          <a:prstGeom prst="roundRect">
            <a:avLst>
              <a:gd name="adj" fmla="val 7826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06640" y="139903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2FD8E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662672" y="1325880"/>
            <a:ext cx="3824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662672" y="1618488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by R²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7406640" y="1920240"/>
            <a:ext cx="4099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0.0485 · RMSE 1.508 · MAE 0.532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223760" y="2423160"/>
            <a:ext cx="4465015" cy="1051560"/>
          </a:xfrm>
          <a:prstGeom prst="roundRect">
            <a:avLst>
              <a:gd name="adj" fmla="val 7826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06640" y="258775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5C8DF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662672" y="2514600"/>
            <a:ext cx="3824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7662672" y="2807208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8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by R²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7406640" y="3108960"/>
            <a:ext cx="4099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0.0417 · RMSE 1.513 · MAE 0.529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223760" y="3611880"/>
            <a:ext cx="4465015" cy="1051560"/>
          </a:xfrm>
          <a:prstGeom prst="roundRect">
            <a:avLst>
              <a:gd name="adj" fmla="val 7826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406640" y="377647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9B87F5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662672" y="3703320"/>
            <a:ext cx="3824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7662672" y="3995928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MAE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7406640" y="4297680"/>
            <a:ext cx="4099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-0.0141 · RMSE 1.556 · MAE 0.473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223760" y="4846320"/>
            <a:ext cx="4465015" cy="1234440"/>
          </a:xfrm>
          <a:prstGeom prst="roundRect">
            <a:avLst>
              <a:gd name="adj" fmla="val 6667"/>
            </a:avLst>
          </a:prstGeom>
          <a:solidFill>
            <a:srgbClr val="16213B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24928" y="5001768"/>
            <a:ext cx="40626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5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READ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7424928" y="5303520"/>
            <a:ext cx="406267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ensembles lead, but explained variance stays under 5%. Impact distance is governed by factors beyond what pre-incident features capture.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REGRESSION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Tuning &amp; Cross-Validation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957255" y="3291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7619695" y="64739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23CSE301 · US ACCIDENTS ML CAPSTONE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074920" cy="2286000"/>
          </a:xfrm>
          <a:prstGeom prst="roundRect">
            <a:avLst>
              <a:gd name="adj" fmla="val 3600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138988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GridSearchCV: baseline vs. tuned R²</a:t>
            </a:r>
            <a:endParaRPr lang="en-US" sz="12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85800" y="1783080"/>
          <a:ext cx="470916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3657600"/>
            <a:ext cx="5074920" cy="205740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22376" y="3794760"/>
            <a:ext cx="4636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parameters (GridSearchCV)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22376" y="4114800"/>
            <a:ext cx="463600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max_depth=10, min_samples_split=5, n_estimators=100</a:t>
            </a:r>
            <a:endParaRPr lang="en-US" sz="10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Boosting: learning_rate=0.05, max_depth=3, n_estimators=100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722376" y="5074920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improved (0.0417 → 0.0455). Random Forest tuning slightly reduced test R² (0.0485 → 0.0419).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97880" y="1234440"/>
            <a:ext cx="5790895" cy="4480560"/>
          </a:xfrm>
          <a:prstGeom prst="roundRect">
            <a:avLst>
              <a:gd name="adj" fmla="val 1837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53912" y="1389888"/>
            <a:ext cx="5333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R² (top-2 models)</a:t>
            </a:r>
            <a:endParaRPr lang="en-US" sz="1250" dirty="0"/>
          </a:p>
        </p:txBody>
      </p:sp>
      <p:graphicFrame>
        <p:nvGraphicFramePr>
          <p:cNvPr id="15" name="Chart 1" descr=""/>
          <p:cNvGraphicFramePr/>
          <p:nvPr/>
        </p:nvGraphicFramePr>
        <p:xfrm>
          <a:off x="6080760" y="1737360"/>
          <a:ext cx="5425135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 12"/>
          <p:cNvSpPr txBox="1"/>
          <p:nvPr/>
        </p:nvSpPr>
        <p:spPr>
          <a:xfrm>
            <a:off x="6153912" y="4206240"/>
            <a:ext cx="5278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      Mean R²        Std Dev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6153912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8549640" y="4526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-0.0431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9646920" y="4526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0.0972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6153912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8549640" y="4846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-0.1043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9646920" y="4846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0.1546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6153912" y="5212080"/>
            <a:ext cx="52788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tuning does NOT guarantee better generalisation — cross-validated R² turns negative, showing high fold-to-fold variance on this weak signal.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REGRESSION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Diagnostics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957255" y="3291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7619695" y="64739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23CSE301 · US ACCIDENTS ML CAPSTONE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6629400" cy="2331720"/>
          </a:xfrm>
          <a:prstGeom prst="roundRect">
            <a:avLst>
              <a:gd name="adj" fmla="val 3529"/>
            </a:avLst>
          </a:prstGeom>
          <a:solidFill>
            <a:srgbClr val="F4F6FA"/>
          </a:solidFill>
          <a:ln w="9525">
            <a:solidFill>
              <a:srgbClr val="24304C"/>
            </a:solidFill>
            <a:prstDash val="solid"/>
          </a:ln>
        </p:spPr>
      </p:sp>
      <p:pic>
        <p:nvPicPr>
          <p:cNvPr id="7" name="Image 0" descr="/home/claude/work/build/assets/reg_di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98448"/>
            <a:ext cx="6446520" cy="2194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3703320"/>
            <a:ext cx="6629400" cy="2011680"/>
          </a:xfrm>
          <a:prstGeom prst="roundRect">
            <a:avLst>
              <a:gd name="adj" fmla="val 4091"/>
            </a:avLst>
          </a:prstGeom>
          <a:solidFill>
            <a:srgbClr val="F4F6FA"/>
          </a:solidFill>
          <a:ln w="9525">
            <a:solidFill>
              <a:srgbClr val="24304C"/>
            </a:solidFill>
            <a:prstDash val="solid"/>
          </a:ln>
        </p:spPr>
      </p:sp>
      <p:pic>
        <p:nvPicPr>
          <p:cNvPr id="9" name="Image 1" descr="/home/claude/work/build/assets/reg_featim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767328"/>
            <a:ext cx="6355080" cy="18745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406640" y="1234440"/>
            <a:ext cx="4282135" cy="4480560"/>
          </a:xfrm>
          <a:prstGeom prst="roundRect">
            <a:avLst>
              <a:gd name="adj" fmla="val 1922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626096" y="1417320"/>
            <a:ext cx="38432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(Random Forest)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7626096" y="1755648"/>
            <a:ext cx="3843223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10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cluster near low-distance accidents (0–2 mi); the model shrinks toward the mean for long-tail cases</a:t>
            </a:r>
            <a:endParaRPr lang="en-US" sz="1100" dirty="0"/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10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spread widens as predicted distance grows — heteroscedasticity</a:t>
            </a:r>
            <a:endParaRPr lang="en-US" sz="1100" dirty="0"/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10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Start_Lat &amp; Start_Lng are the dominant importance drivers</a:t>
            </a:r>
            <a:endParaRPr lang="en-US" sz="1100" dirty="0"/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10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Start_Hour and Day_of_Week (engineered) rank in the top 6</a:t>
            </a:r>
            <a:endParaRPr lang="en-US" sz="1100" dirty="0"/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10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Pressure and Humidity contribute steadily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CLASSIFICATION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Approach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957255" y="3291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7619695" y="64739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23CSE301 · US ACCIDENTS ML CAPSTONE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4937760" cy="4480560"/>
          </a:xfrm>
          <a:prstGeom prst="roundRect">
            <a:avLst>
              <a:gd name="adj" fmla="val 1837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463040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16213B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23544" y="1463040"/>
            <a:ext cx="4096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Preprocessed Accident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(67-dim)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98648" y="2029968"/>
            <a:ext cx="146304" cy="204826"/>
          </a:xfrm>
          <a:prstGeom prst="downArrow">
            <a:avLst/>
          </a:prstGeom>
          <a:solidFill>
            <a:srgbClr val="5E698C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2240280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16213B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23544" y="2240280"/>
            <a:ext cx="4096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Train / Test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(80 / 20)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898648" y="2807208"/>
            <a:ext cx="146304" cy="204826"/>
          </a:xfrm>
          <a:prstGeom prst="downArrow">
            <a:avLst/>
          </a:prstGeom>
          <a:solidFill>
            <a:srgbClr val="5E698C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3017520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16324A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44" y="3017520"/>
            <a:ext cx="4096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Classifiers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(Part A)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898648" y="3584448"/>
            <a:ext cx="146304" cy="204826"/>
          </a:xfrm>
          <a:prstGeom prst="downArrow">
            <a:avLst/>
          </a:prstGeom>
          <a:solidFill>
            <a:srgbClr val="5E698C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3794760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16213B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3544" y="3794760"/>
            <a:ext cx="4096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Severity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– 4)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" y="4617720"/>
            <a:ext cx="1310640" cy="502920"/>
          </a:xfrm>
          <a:prstGeom prst="roundRect">
            <a:avLst>
              <a:gd name="adj" fmla="val 14545"/>
            </a:avLst>
          </a:prstGeom>
          <a:solidFill>
            <a:srgbClr val="27203F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3544" y="4617720"/>
            <a:ext cx="1200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16480" y="4617720"/>
            <a:ext cx="1310640" cy="502920"/>
          </a:xfrm>
          <a:prstGeom prst="roundRect">
            <a:avLst>
              <a:gd name="adj" fmla="val 14545"/>
            </a:avLst>
          </a:prstGeom>
          <a:solidFill>
            <a:srgbClr val="27203F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371344" y="4617720"/>
            <a:ext cx="1200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764280" y="4617720"/>
            <a:ext cx="1310640" cy="502920"/>
          </a:xfrm>
          <a:prstGeom prst="roundRect">
            <a:avLst>
              <a:gd name="adj" fmla="val 14545"/>
            </a:avLst>
          </a:prstGeom>
          <a:solidFill>
            <a:srgbClr val="27203F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819144" y="4617720"/>
            <a:ext cx="1200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349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E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models train and evaluate on the SAME preprocessed split for a fair comparison.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760720" y="1234440"/>
            <a:ext cx="5928055" cy="804672"/>
          </a:xfrm>
          <a:prstGeom prst="roundRect">
            <a:avLst>
              <a:gd name="adj" fmla="val 10227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97880" y="134416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D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1325880"/>
            <a:ext cx="5013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1645920"/>
            <a:ext cx="5013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linear baseline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60720" y="2148840"/>
            <a:ext cx="5928055" cy="804672"/>
          </a:xfrm>
          <a:prstGeom prst="roundRect">
            <a:avLst>
              <a:gd name="adj" fmla="val 10227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897880" y="225856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D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6492240" y="2240280"/>
            <a:ext cx="5013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492240" y="2560320"/>
            <a:ext cx="5013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7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60720" y="3063240"/>
            <a:ext cx="5928055" cy="804672"/>
          </a:xfrm>
          <a:prstGeom prst="roundRect">
            <a:avLst>
              <a:gd name="adj" fmla="val 10227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897880" y="317296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D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6492240" y="3154680"/>
            <a:ext cx="5013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Naive Bayes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492240" y="3474720"/>
            <a:ext cx="5013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Conditional-independence assumption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760720" y="3977640"/>
            <a:ext cx="5928055" cy="804672"/>
          </a:xfrm>
          <a:prstGeom prst="roundRect">
            <a:avLst>
              <a:gd name="adj" fmla="val 10227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897880" y="408736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D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6492240" y="4069080"/>
            <a:ext cx="5013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492240" y="4389120"/>
            <a:ext cx="5013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= 10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760720" y="4892040"/>
            <a:ext cx="5928055" cy="804672"/>
          </a:xfrm>
          <a:prstGeom prst="roundRect">
            <a:avLst>
              <a:gd name="adj" fmla="val 10227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897880" y="500176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D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3" name="Text 41"/>
          <p:cNvSpPr txBox="1"/>
          <p:nvPr/>
        </p:nvSpPr>
        <p:spPr>
          <a:xfrm>
            <a:off x="6492240" y="4983480"/>
            <a:ext cx="5013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492240" y="5303520"/>
            <a:ext cx="5013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kernel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CLASSIFICATION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Classifiers Work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957255" y="3291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7619695" y="64739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23CSE301 · US ACCIDENTS ML CAPSTONE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3594506" cy="2148840"/>
          </a:xfrm>
          <a:prstGeom prst="roundRect">
            <a:avLst>
              <a:gd name="adj" fmla="val 3830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55448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FD8E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04088" y="1993392"/>
            <a:ext cx="3192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2468880"/>
            <a:ext cx="31921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Recursive, feature-based splits that partition the data into severity-homogeneous regions.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8594" y="1371600"/>
            <a:ext cx="3594506" cy="2148840"/>
          </a:xfrm>
          <a:prstGeom prst="roundRect">
            <a:avLst>
              <a:gd name="adj" fmla="val 3830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99762" y="155448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5C8D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99762" y="1993392"/>
            <a:ext cx="3192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99762" y="2468880"/>
            <a:ext cx="31921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by majority vote among the k = 7 nearest observations in feature space.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94269" y="1371600"/>
            <a:ext cx="3594506" cy="2148840"/>
          </a:xfrm>
          <a:prstGeom prst="roundRect">
            <a:avLst>
              <a:gd name="adj" fmla="val 3830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5437" y="155448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9B87F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95437" y="1993392"/>
            <a:ext cx="3192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95437" y="2468880"/>
            <a:ext cx="31921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class probabilities via a linear decision boundary (multinomial softmax).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721608"/>
            <a:ext cx="3594506" cy="2148840"/>
          </a:xfrm>
          <a:prstGeom prst="roundRect">
            <a:avLst>
              <a:gd name="adj" fmla="val 3830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" y="390448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5B84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04088" y="4343400"/>
            <a:ext cx="3192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(RBF Kernel)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" y="4818888"/>
            <a:ext cx="31921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 maximum-margin, non-linear decision boundary using kernel-transformed features.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98594" y="3721608"/>
            <a:ext cx="3594506" cy="2148840"/>
          </a:xfrm>
          <a:prstGeom prst="roundRect">
            <a:avLst>
              <a:gd name="adj" fmla="val 3830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99762" y="390448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16E8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499762" y="4343400"/>
            <a:ext cx="3192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Naive Bayes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499762" y="4818888"/>
            <a:ext cx="31921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Bayes' theorem assuming features are conditionally independent given the class.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620877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concise mechanism statement per algorithm — full derivations are covered verbally during the viva.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9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CLASSIFICATION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Results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957255" y="3291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7619695" y="64739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23CSE301 · US ACCIDENTS ML CAPSTONE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074920" cy="2788920"/>
          </a:xfrm>
          <a:prstGeom prst="roundRect">
            <a:avLst>
              <a:gd name="adj" fmla="val 2951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22376" y="1371600"/>
            <a:ext cx="4636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(%)</a:t>
            </a:r>
            <a:endParaRPr lang="en-US" sz="12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67512" y="1691640"/>
          <a:ext cx="4745736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852160" y="1234440"/>
            <a:ext cx="5074920" cy="2788920"/>
          </a:xfrm>
          <a:prstGeom prst="roundRect">
            <a:avLst>
              <a:gd name="adj" fmla="val 2951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71616" y="1371600"/>
            <a:ext cx="4636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F1-score</a:t>
            </a:r>
            <a:endParaRPr lang="en-US" sz="125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6016752" y="1691640"/>
          <a:ext cx="4745736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502920" y="4206240"/>
            <a:ext cx="11185855" cy="1554480"/>
          </a:xfrm>
          <a:prstGeom prst="roundRect">
            <a:avLst>
              <a:gd name="adj" fmla="val 5294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58952" y="4343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3502152" y="43434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5879592" y="43434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8257032" y="43434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TIME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758952" y="4645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3502152" y="46451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73.71%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5879592" y="46451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0.6747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8257032" y="46451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 s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758952" y="4864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(k=7)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3502152" y="48646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71.80%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5879592" y="48646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0.6725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8257032" y="4864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 s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758952" y="50840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3502152" y="50840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73.38%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5879592" y="50840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0.6598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8257032" y="50840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 s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758952" y="5303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(RBF)</a:t>
            </a:r>
            <a:endParaRPr lang="en-US" sz="1050" dirty="0"/>
          </a:p>
        </p:txBody>
      </p:sp>
      <p:sp>
        <p:nvSpPr>
          <p:cNvPr id="30" name="Text 26"/>
          <p:cNvSpPr txBox="1"/>
          <p:nvPr/>
        </p:nvSpPr>
        <p:spPr>
          <a:xfrm>
            <a:off x="3502152" y="5303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62.43%</a:t>
            </a:r>
            <a:endParaRPr lang="en-US" sz="1050" dirty="0"/>
          </a:p>
        </p:txBody>
      </p:sp>
      <p:sp>
        <p:nvSpPr>
          <p:cNvPr id="31" name="Text 27"/>
          <p:cNvSpPr txBox="1"/>
          <p:nvPr/>
        </p:nvSpPr>
        <p:spPr>
          <a:xfrm>
            <a:off x="5879592" y="5303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0.6171</a:t>
            </a:r>
            <a:endParaRPr lang="en-US" sz="1050" dirty="0"/>
          </a:p>
        </p:txBody>
      </p:sp>
      <p:sp>
        <p:nvSpPr>
          <p:cNvPr id="32" name="Text 28"/>
          <p:cNvSpPr txBox="1"/>
          <p:nvPr/>
        </p:nvSpPr>
        <p:spPr>
          <a:xfrm>
            <a:off x="8257032" y="53035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21.65 s</a:t>
            </a:r>
            <a:endParaRPr lang="en-US" sz="1050" dirty="0"/>
          </a:p>
        </p:txBody>
      </p:sp>
      <p:sp>
        <p:nvSpPr>
          <p:cNvPr id="33" name="Text 29"/>
          <p:cNvSpPr txBox="1"/>
          <p:nvPr/>
        </p:nvSpPr>
        <p:spPr>
          <a:xfrm>
            <a:off x="758952" y="55229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NB</a:t>
            </a:r>
            <a:endParaRPr lang="en-US" sz="1050" dirty="0"/>
          </a:p>
        </p:txBody>
      </p:sp>
      <p:sp>
        <p:nvSpPr>
          <p:cNvPr id="34" name="Text 30"/>
          <p:cNvSpPr txBox="1"/>
          <p:nvPr/>
        </p:nvSpPr>
        <p:spPr>
          <a:xfrm>
            <a:off x="3502152" y="55229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14.17%</a:t>
            </a:r>
            <a:endParaRPr lang="en-US" sz="1050" dirty="0"/>
          </a:p>
        </p:txBody>
      </p:sp>
      <p:sp>
        <p:nvSpPr>
          <p:cNvPr id="35" name="Text 31"/>
          <p:cNvSpPr txBox="1"/>
          <p:nvPr/>
        </p:nvSpPr>
        <p:spPr>
          <a:xfrm>
            <a:off x="5879592" y="55229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0.1608</a:t>
            </a:r>
            <a:endParaRPr lang="en-US" sz="1050" dirty="0"/>
          </a:p>
        </p:txBody>
      </p:sp>
      <p:sp>
        <p:nvSpPr>
          <p:cNvPr id="36" name="Text 32"/>
          <p:cNvSpPr txBox="1"/>
          <p:nvPr/>
        </p:nvSpPr>
        <p:spPr>
          <a:xfrm>
            <a:off x="8257032" y="55229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0.035 s</a:t>
            </a:r>
            <a:endParaRPr lang="en-US" sz="1050" dirty="0"/>
          </a:p>
        </p:txBody>
      </p:sp>
      <p:sp>
        <p:nvSpPr>
          <p:cNvPr id="37" name="Text 33"/>
          <p:cNvSpPr txBox="1"/>
          <p:nvPr/>
        </p:nvSpPr>
        <p:spPr>
          <a:xfrm>
            <a:off x="502920" y="58978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records the highest observed accuracy and weighted F1 in this experiment — not a universal claim, but the outcome on this held-out split.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9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CLASSIFICATION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Analysis &amp; Confusion Matrices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957255" y="3291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7619695" y="64739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23CSE301 · US ACCIDENTS ML CAPSTONE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520440" cy="2788920"/>
          </a:xfrm>
          <a:prstGeom prst="roundRect">
            <a:avLst>
              <a:gd name="adj" fmla="val 2951"/>
            </a:avLst>
          </a:prstGeom>
          <a:solidFill>
            <a:srgbClr val="F4F6FA"/>
          </a:solidFill>
          <a:ln w="9525">
            <a:solidFill>
              <a:srgbClr val="24304C"/>
            </a:solidFill>
            <a:prstDash val="solid"/>
          </a:ln>
        </p:spPr>
      </p:sp>
      <p:pic>
        <p:nvPicPr>
          <p:cNvPr id="7" name="Image 0" descr="/home/claude/work/build/assets/cm_d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298448"/>
            <a:ext cx="3374136" cy="2651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2920" y="40416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Decision Tree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51960" y="1234440"/>
            <a:ext cx="3520440" cy="2788920"/>
          </a:xfrm>
          <a:prstGeom prst="roundRect">
            <a:avLst>
              <a:gd name="adj" fmla="val 2951"/>
            </a:avLst>
          </a:prstGeom>
          <a:solidFill>
            <a:srgbClr val="F4F6FA"/>
          </a:solidFill>
          <a:ln w="9525">
            <a:solidFill>
              <a:srgbClr val="24304C"/>
            </a:solidFill>
            <a:prstDash val="solid"/>
          </a:ln>
        </p:spPr>
      </p:sp>
      <p:pic>
        <p:nvPicPr>
          <p:cNvPr id="10" name="Image 1" descr="/home/claude/work/build/assets/cm_n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2" y="1298448"/>
            <a:ext cx="3374136" cy="2651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51960" y="40416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Weakest: Gaussian NB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046720" y="1234440"/>
            <a:ext cx="3642055" cy="2788920"/>
          </a:xfrm>
          <a:prstGeom prst="roundRect">
            <a:avLst>
              <a:gd name="adj" fmla="val 2951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247888" y="1371600"/>
            <a:ext cx="3239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CONFUSION MATRIX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247888" y="1691640"/>
            <a:ext cx="3239719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= correct predictions per class</a:t>
            </a:r>
            <a:endParaRPr lang="en-US" sz="10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Off-diagonal = misclassifications between severity tiers</a:t>
            </a:r>
            <a:endParaRPr lang="en-US" sz="10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Tree: strong majority-class recall, some minority (Sev 1/4) recognition</a:t>
            </a:r>
            <a:endParaRPr lang="en-US" sz="10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00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NB: over-predicts Sev 3/4 and under-predicts the dominant Sev 2 class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02920" y="4251960"/>
            <a:ext cx="11185855" cy="1737360"/>
          </a:xfrm>
          <a:prstGeom prst="roundRect">
            <a:avLst>
              <a:gd name="adj" fmla="val 4737"/>
            </a:avLst>
          </a:prstGeom>
          <a:solidFill>
            <a:srgbClr val="16213B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58952" y="4407408"/>
            <a:ext cx="10673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GAUSSIAN NAIVE BAYES UNDERPERFORMS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758952" y="4736592"/>
            <a:ext cx="1067379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assumes conditional independence among features given the class. In this data, geographic coordinates, weather variables and infrastructure indicators are strongly correlated — an interpretation consistent with its 14.2% accuracy and 0.16 weighted F1, not a proven causal explanation.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9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FINDINGS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Results, Limitations &amp; Review 2 Roadmap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957255" y="3291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7619695" y="64739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E6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23CSE301 · US ACCIDENTS ML CAPSTONE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606698" cy="2514600"/>
          </a:xfrm>
          <a:prstGeom prst="roundRect">
            <a:avLst>
              <a:gd name="adj" fmla="val 3273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088" y="1371600"/>
            <a:ext cx="3204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1691640"/>
            <a:ext cx="320436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models evaluated on an identical split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/ Gradient Boosting strongest by R²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 lowest MAE (outlier-robust)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predictive signal for Distance is weak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+ 5-fold CV performed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2498" y="1234440"/>
            <a:ext cx="3606698" cy="2514600"/>
          </a:xfrm>
          <a:prstGeom prst="roundRect">
            <a:avLst>
              <a:gd name="adj" fmla="val 3273"/>
            </a:avLst>
          </a:prstGeom>
          <a:solidFill>
            <a:srgbClr val="121A2E"/>
          </a:solidFill>
          <a:ln w="9525">
            <a:solidFill>
              <a:srgbClr val="24304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3666" y="1371600"/>
            <a:ext cx="3204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493666" y="1691640"/>
            <a:ext cx="320436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Part-A models evaluated on a stratified split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Tree: highest observed Accuracy / F1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 (Sev 2 = 73.1%)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used for class-level insight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NB substantially underperformed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82077" y="1234440"/>
            <a:ext cx="3606698" cy="2514600"/>
          </a:xfrm>
          <a:prstGeom prst="roundRect">
            <a:avLst>
              <a:gd name="adj" fmla="val 3273"/>
            </a:avLst>
          </a:prstGeom>
          <a:solidFill>
            <a:srgbClr val="2A1F14"/>
          </a:solidFill>
          <a:ln w="9525">
            <a:solidFill>
              <a:srgbClr val="4A362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83245" y="1371600"/>
            <a:ext cx="32043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83245" y="1691640"/>
            <a:ext cx="320436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 in Severity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regression explanatory power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 Distance distribution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 classes are hard to classify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Pre-incident features miss causal factors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931920"/>
            <a:ext cx="11185855" cy="1325880"/>
          </a:xfrm>
          <a:prstGeom prst="roundRect">
            <a:avLst>
              <a:gd name="adj" fmla="val 6207"/>
            </a:avLst>
          </a:prstGeom>
          <a:solidFill>
            <a:srgbClr val="0F2A22"/>
          </a:solidFill>
          <a:ln w="9525">
            <a:solidFill>
              <a:srgbClr val="1C453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E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ROADMAP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58952" y="4370832"/>
            <a:ext cx="1067379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• AdaBoost • Gradient Boosting • Bagging • MLP Neural Network • full Clustering track • potential deployment component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54406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FD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Accident Data → Leakage-Safe Features → Comparative ML Models → Interpretable Evaluation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59436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F7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7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2026-09-21T06:08:11Z</dcterms:created>
  <dcterms:modified xsi:type="dcterms:W3CDTF">2026-09-21T06:08:11Z</dcterms:modified>
</cp:coreProperties>
</file>